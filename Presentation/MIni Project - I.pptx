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DM Sans Semi Bold" panose="020B0604020202020204" charset="0"/>
      <p:regular r:id="rId14"/>
    </p:embeddedFont>
    <p:embeddedFont>
      <p:font typeface="Inter Medium"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301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F49862A-4422-DFA5-9B69-B75D27969BE1}"/>
              </a:ext>
            </a:extLst>
          </p:cNvPr>
          <p:cNvSpPr/>
          <p:nvPr/>
        </p:nvSpPr>
        <p:spPr>
          <a:xfrm>
            <a:off x="12820650" y="7734300"/>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710571"/>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Network-Based Phishing Detection Tool</a:t>
            </a:r>
            <a:endParaRPr lang="en-US" sz="4450" dirty="0"/>
          </a:p>
        </p:txBody>
      </p:sp>
      <p:sp>
        <p:nvSpPr>
          <p:cNvPr id="4" name="Text 1"/>
          <p:cNvSpPr/>
          <p:nvPr/>
        </p:nvSpPr>
        <p:spPr>
          <a:xfrm>
            <a:off x="793790" y="3468291"/>
            <a:ext cx="7556421" cy="1088708"/>
          </a:xfrm>
          <a:prstGeom prst="rect">
            <a:avLst/>
          </a:prstGeom>
          <a:noFill/>
          <a:ln/>
        </p:spPr>
        <p:txBody>
          <a:bodyPr wrap="square" lIns="0" tIns="0" rIns="0" bIns="0" rtlCol="0" anchor="t"/>
          <a:lstStyle/>
          <a:p>
            <a:pPr marL="0" indent="0" algn="l">
              <a:lnSpc>
                <a:spcPts val="2850"/>
              </a:lnSpc>
              <a:buNone/>
            </a:pPr>
            <a:r>
              <a:rPr lang="en-US" sz="1750" b="1" dirty="0">
                <a:solidFill>
                  <a:srgbClr val="464646"/>
                </a:solidFill>
                <a:latin typeface="Inter Medium" pitchFamily="34" charset="0"/>
                <a:ea typeface="Inter Medium" pitchFamily="34" charset="-122"/>
                <a:cs typeface="Inter Medium" pitchFamily="34" charset="-120"/>
              </a:rPr>
              <a:t>Mini Project – I</a:t>
            </a:r>
            <a:br>
              <a:rPr lang="en-US" sz="1750" b="1" dirty="0">
                <a:solidFill>
                  <a:srgbClr val="464646"/>
                </a:solidFill>
                <a:latin typeface="Inter Medium" pitchFamily="34" charset="0"/>
                <a:ea typeface="Inter Medium" pitchFamily="34" charset="-122"/>
                <a:cs typeface="Inter Medium" pitchFamily="34" charset="-120"/>
              </a:rPr>
            </a:br>
            <a:r>
              <a:rPr lang="en-US" sz="1750" dirty="0" err="1">
                <a:solidFill>
                  <a:srgbClr val="464646"/>
                </a:solidFill>
                <a:latin typeface="Inter Medium" pitchFamily="34" charset="0"/>
                <a:ea typeface="Inter Medium" pitchFamily="34" charset="-122"/>
                <a:cs typeface="Inter Medium" pitchFamily="34" charset="-120"/>
              </a:rPr>
              <a:t>B.Tech</a:t>
            </a:r>
            <a:r>
              <a:rPr lang="en-US" sz="1750" dirty="0">
                <a:solidFill>
                  <a:srgbClr val="464646"/>
                </a:solidFill>
                <a:latin typeface="Inter Medium" pitchFamily="34" charset="0"/>
                <a:ea typeface="Inter Medium" pitchFamily="34" charset="-122"/>
                <a:cs typeface="Inter Medium" pitchFamily="34" charset="-120"/>
              </a:rPr>
              <a:t> in Computer Science &amp; Engineering (Cyber Security)</a:t>
            </a:r>
            <a:endParaRPr lang="en-US" sz="1750" dirty="0"/>
          </a:p>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Academic Year 2025–2026</a:t>
            </a:r>
            <a:endParaRPr lang="en-US" sz="1750" dirty="0"/>
          </a:p>
        </p:txBody>
      </p:sp>
      <p:sp>
        <p:nvSpPr>
          <p:cNvPr id="5" name="Text 2"/>
          <p:cNvSpPr/>
          <p:nvPr/>
        </p:nvSpPr>
        <p:spPr>
          <a:xfrm>
            <a:off x="793790" y="4812149"/>
            <a:ext cx="7556421" cy="725805"/>
          </a:xfrm>
          <a:prstGeom prst="rect">
            <a:avLst/>
          </a:prstGeom>
          <a:noFill/>
          <a:ln/>
        </p:spPr>
        <p:txBody>
          <a:bodyPr wrap="square" lIns="0" tIns="0" rIns="0" bIns="0" rtlCol="0" anchor="t"/>
          <a:lstStyle/>
          <a:p>
            <a:pPr marL="0" indent="0" algn="l">
              <a:lnSpc>
                <a:spcPts val="2850"/>
              </a:lnSpc>
              <a:buNone/>
            </a:pPr>
            <a:r>
              <a:rPr lang="en-US" sz="1750" b="1" dirty="0">
                <a:solidFill>
                  <a:srgbClr val="464646"/>
                </a:solidFill>
                <a:latin typeface="Inter Medium" pitchFamily="34" charset="0"/>
                <a:ea typeface="Inter Medium" pitchFamily="34" charset="-122"/>
                <a:cs typeface="Inter Medium" pitchFamily="34" charset="-120"/>
              </a:rPr>
              <a:t>Team Members:</a:t>
            </a:r>
            <a:r>
              <a:rPr lang="en-US" sz="1750" dirty="0">
                <a:solidFill>
                  <a:srgbClr val="464646"/>
                </a:solidFill>
                <a:latin typeface="Inter Medium" pitchFamily="34" charset="0"/>
                <a:ea typeface="Inter Medium" pitchFamily="34" charset="-122"/>
                <a:cs typeface="Inter Medium" pitchFamily="34" charset="-120"/>
              </a:rPr>
              <a:t> Ankit Saraswat (Team Leader), Nancy Paul, Sujal Singh, Riya Devi</a:t>
            </a:r>
            <a:endParaRPr lang="en-US" sz="1750" dirty="0"/>
          </a:p>
        </p:txBody>
      </p:sp>
      <p:sp>
        <p:nvSpPr>
          <p:cNvPr id="6" name="Text 3"/>
          <p:cNvSpPr/>
          <p:nvPr/>
        </p:nvSpPr>
        <p:spPr>
          <a:xfrm>
            <a:off x="793790" y="5793105"/>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Department of Computer Science</a:t>
            </a:r>
            <a:endParaRPr lang="en-US" sz="1750" dirty="0"/>
          </a:p>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GLA University, Mathura</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43188" y="959048"/>
            <a:ext cx="1052870" cy="338257"/>
          </a:xfrm>
          <a:prstGeom prst="roundRect">
            <a:avLst>
              <a:gd name="adj" fmla="val 6758"/>
            </a:avLst>
          </a:prstGeom>
          <a:solidFill>
            <a:srgbClr val="D4F7EC"/>
          </a:solidFill>
          <a:ln/>
        </p:spPr>
      </p:sp>
      <p:sp>
        <p:nvSpPr>
          <p:cNvPr id="3" name="Text 1"/>
          <p:cNvSpPr/>
          <p:nvPr/>
        </p:nvSpPr>
        <p:spPr>
          <a:xfrm>
            <a:off x="857369" y="1016079"/>
            <a:ext cx="824508" cy="224195"/>
          </a:xfrm>
          <a:prstGeom prst="rect">
            <a:avLst/>
          </a:prstGeom>
          <a:noFill/>
          <a:ln/>
        </p:spPr>
        <p:txBody>
          <a:bodyPr wrap="none" lIns="0" tIns="0" rIns="0" bIns="0" rtlCol="0" anchor="t"/>
          <a:lstStyle/>
          <a:p>
            <a:pPr marL="0" indent="0" algn="l">
              <a:lnSpc>
                <a:spcPts val="1750"/>
              </a:lnSpc>
              <a:buNone/>
            </a:pPr>
            <a:r>
              <a:rPr lang="en-US" sz="1150" dirty="0">
                <a:solidFill>
                  <a:srgbClr val="464646"/>
                </a:solidFill>
                <a:latin typeface="Inter Medium" pitchFamily="34" charset="0"/>
                <a:ea typeface="Inter Medium" pitchFamily="34" charset="-122"/>
                <a:cs typeface="Inter Medium" pitchFamily="34" charset="-120"/>
              </a:rPr>
              <a:t>CHAPTER 1</a:t>
            </a:r>
            <a:endParaRPr lang="en-US" sz="1150" dirty="0"/>
          </a:p>
        </p:txBody>
      </p:sp>
      <p:sp>
        <p:nvSpPr>
          <p:cNvPr id="4" name="Text 2"/>
          <p:cNvSpPr/>
          <p:nvPr/>
        </p:nvSpPr>
        <p:spPr>
          <a:xfrm>
            <a:off x="743188" y="1361242"/>
            <a:ext cx="7156728" cy="595313"/>
          </a:xfrm>
          <a:prstGeom prst="rect">
            <a:avLst/>
          </a:prstGeom>
          <a:noFill/>
          <a:ln/>
        </p:spPr>
        <p:txBody>
          <a:bodyPr wrap="none" lIns="0" tIns="0" rIns="0" bIns="0" rtlCol="0" anchor="t"/>
          <a:lstStyle/>
          <a:p>
            <a:pPr marL="0" indent="0" algn="l">
              <a:lnSpc>
                <a:spcPts val="4650"/>
              </a:lnSpc>
              <a:buNone/>
            </a:pPr>
            <a:r>
              <a:rPr lang="en-US" sz="3700" dirty="0">
                <a:solidFill>
                  <a:srgbClr val="030303"/>
                </a:solidFill>
                <a:latin typeface="DM Sans Semi Bold" pitchFamily="34" charset="0"/>
                <a:ea typeface="DM Sans Semi Bold" pitchFamily="34" charset="-122"/>
                <a:cs typeface="DM Sans Semi Bold" pitchFamily="34" charset="-120"/>
              </a:rPr>
              <a:t>The Phishing Threat Landscape</a:t>
            </a:r>
            <a:endParaRPr lang="en-US" sz="3700" dirty="0"/>
          </a:p>
        </p:txBody>
      </p:sp>
      <p:pic>
        <p:nvPicPr>
          <p:cNvPr id="5" name="Image 0" descr="preencoded.png"/>
          <p:cNvPicPr>
            <a:picLocks noChangeAspect="1"/>
          </p:cNvPicPr>
          <p:nvPr/>
        </p:nvPicPr>
        <p:blipFill>
          <a:blip r:embed="rId3"/>
          <a:stretch>
            <a:fillRect/>
          </a:stretch>
        </p:blipFill>
        <p:spPr>
          <a:xfrm>
            <a:off x="743188" y="2376368"/>
            <a:ext cx="8380928" cy="4714161"/>
          </a:xfrm>
          <a:prstGeom prst="rect">
            <a:avLst/>
          </a:prstGeom>
        </p:spPr>
      </p:pic>
      <p:sp>
        <p:nvSpPr>
          <p:cNvPr id="6" name="Text 3"/>
          <p:cNvSpPr/>
          <p:nvPr/>
        </p:nvSpPr>
        <p:spPr>
          <a:xfrm>
            <a:off x="9596318" y="2767727"/>
            <a:ext cx="4298394" cy="1121093"/>
          </a:xfrm>
          <a:prstGeom prst="rect">
            <a:avLst/>
          </a:prstGeom>
          <a:noFill/>
          <a:ln/>
        </p:spPr>
        <p:txBody>
          <a:bodyPr wrap="square" lIns="0" tIns="0" rIns="0" bIns="0" rtlCol="0" anchor="t"/>
          <a:lstStyle/>
          <a:p>
            <a:pPr marL="0" indent="0" algn="l">
              <a:lnSpc>
                <a:spcPts val="2200"/>
              </a:lnSpc>
              <a:buNone/>
            </a:pPr>
            <a:r>
              <a:rPr lang="en-US" sz="1450" dirty="0">
                <a:solidFill>
                  <a:srgbClr val="464646"/>
                </a:solidFill>
                <a:latin typeface="Inter Medium" pitchFamily="34" charset="0"/>
                <a:ea typeface="Inter Medium" pitchFamily="34" charset="-122"/>
                <a:cs typeface="Inter Medium" pitchFamily="34" charset="-120"/>
              </a:rPr>
              <a:t>Phishing remains one of the most pervasive and dangerous cyber attacks, targeting users' sensitive information including passwords, banking credentials, and personal data.</a:t>
            </a:r>
            <a:endParaRPr lang="en-US" sz="1450" dirty="0"/>
          </a:p>
        </p:txBody>
      </p:sp>
      <p:sp>
        <p:nvSpPr>
          <p:cNvPr id="7" name="Text 4"/>
          <p:cNvSpPr/>
          <p:nvPr/>
        </p:nvSpPr>
        <p:spPr>
          <a:xfrm>
            <a:off x="9596318" y="4032766"/>
            <a:ext cx="4298394" cy="1961912"/>
          </a:xfrm>
          <a:prstGeom prst="rect">
            <a:avLst/>
          </a:prstGeom>
          <a:noFill/>
          <a:ln/>
        </p:spPr>
        <p:txBody>
          <a:bodyPr wrap="square" lIns="0" tIns="0" rIns="0" bIns="0" rtlCol="0" anchor="t"/>
          <a:lstStyle/>
          <a:p>
            <a:pPr marL="0" indent="0" algn="l">
              <a:lnSpc>
                <a:spcPts val="2200"/>
              </a:lnSpc>
              <a:buNone/>
            </a:pPr>
            <a:r>
              <a:rPr lang="en-US" sz="1450" dirty="0">
                <a:solidFill>
                  <a:srgbClr val="464646"/>
                </a:solidFill>
                <a:latin typeface="Inter Medium" pitchFamily="34" charset="0"/>
                <a:ea typeface="Inter Medium" pitchFamily="34" charset="-122"/>
                <a:cs typeface="Inter Medium" pitchFamily="34" charset="-120"/>
              </a:rPr>
              <a:t>Attackers craft convincing replicas of legitimate websites, exploiting human trust and making detection challenging for both users and traditional security systems. The sophistication and frequency of these attacks continue to escalate alongside growing internet adoption.</a:t>
            </a:r>
            <a:endParaRPr lang="en-US" sz="1450" dirty="0"/>
          </a:p>
        </p:txBody>
      </p:sp>
      <p:sp>
        <p:nvSpPr>
          <p:cNvPr id="8" name="Text 5"/>
          <p:cNvSpPr/>
          <p:nvPr/>
        </p:nvSpPr>
        <p:spPr>
          <a:xfrm>
            <a:off x="9596318" y="6138624"/>
            <a:ext cx="4298394" cy="560546"/>
          </a:xfrm>
          <a:prstGeom prst="rect">
            <a:avLst/>
          </a:prstGeom>
          <a:noFill/>
          <a:ln/>
        </p:spPr>
        <p:txBody>
          <a:bodyPr wrap="square" lIns="0" tIns="0" rIns="0" bIns="0" rtlCol="0" anchor="t"/>
          <a:lstStyle/>
          <a:p>
            <a:pPr marL="0" indent="0" algn="l">
              <a:lnSpc>
                <a:spcPts val="2200"/>
              </a:lnSpc>
              <a:buNone/>
            </a:pPr>
            <a:r>
              <a:rPr lang="en-US" sz="1450" dirty="0">
                <a:solidFill>
                  <a:srgbClr val="464646"/>
                </a:solidFill>
                <a:latin typeface="Inter Medium" pitchFamily="34" charset="0"/>
                <a:ea typeface="Inter Medium" pitchFamily="34" charset="-122"/>
                <a:cs typeface="Inter Medium" pitchFamily="34" charset="-120"/>
              </a:rPr>
              <a:t>Our project addresses this critical security gap through real-time network traffic analysis.</a:t>
            </a:r>
            <a:endParaRPr lang="en-US" sz="1450" dirty="0"/>
          </a:p>
        </p:txBody>
      </p:sp>
      <p:sp>
        <p:nvSpPr>
          <p:cNvPr id="9" name="Rectangle 8">
            <a:extLst>
              <a:ext uri="{FF2B5EF4-FFF2-40B4-BE49-F238E27FC236}">
                <a16:creationId xmlns:a16="http://schemas.microsoft.com/office/drawing/2014/main" id="{24BB85FF-BB9E-F334-AE1C-DAE3D1AB0E3F}"/>
              </a:ext>
            </a:extLst>
          </p:cNvPr>
          <p:cNvSpPr/>
          <p:nvPr/>
        </p:nvSpPr>
        <p:spPr>
          <a:xfrm>
            <a:off x="12820650" y="7734300"/>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95701"/>
            <a:ext cx="10800874" cy="708779"/>
          </a:xfrm>
          <a:prstGeom prst="rect">
            <a:avLst/>
          </a:prstGeom>
          <a:noFill/>
          <a:ln/>
        </p:spPr>
        <p:txBody>
          <a:bodyPr wrap="none" lIns="0" tIns="0" rIns="0" bIns="0" rtlCol="0" anchor="t"/>
          <a:lstStyle/>
          <a:p>
            <a:pPr marL="0" indent="0" algn="l">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Why Network-Based Detection Matters</a:t>
            </a:r>
            <a:endParaRPr lang="en-US" sz="4450" dirty="0"/>
          </a:p>
        </p:txBody>
      </p:sp>
      <p:sp>
        <p:nvSpPr>
          <p:cNvPr id="3" name="Shape 1"/>
          <p:cNvSpPr/>
          <p:nvPr/>
        </p:nvSpPr>
        <p:spPr>
          <a:xfrm>
            <a:off x="793790" y="2958108"/>
            <a:ext cx="3090505" cy="3475792"/>
          </a:xfrm>
          <a:prstGeom prst="roundRect">
            <a:avLst>
              <a:gd name="adj" fmla="val 1101"/>
            </a:avLst>
          </a:prstGeom>
          <a:solidFill>
            <a:srgbClr val="F2EEEE"/>
          </a:solidFill>
          <a:ln/>
        </p:spPr>
      </p:sp>
      <p:sp>
        <p:nvSpPr>
          <p:cNvPr id="4" name="Text 2"/>
          <p:cNvSpPr/>
          <p:nvPr/>
        </p:nvSpPr>
        <p:spPr>
          <a:xfrm>
            <a:off x="1020604" y="3184922"/>
            <a:ext cx="2636877" cy="708660"/>
          </a:xfrm>
          <a:prstGeom prst="rect">
            <a:avLst/>
          </a:prstGeom>
          <a:noFill/>
          <a:ln/>
        </p:spPr>
        <p:txBody>
          <a:bodyPr wrap="squar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Short-Lived Threats</a:t>
            </a:r>
            <a:endParaRPr lang="en-US" sz="2200" dirty="0"/>
          </a:p>
        </p:txBody>
      </p:sp>
      <p:sp>
        <p:nvSpPr>
          <p:cNvPr id="5" name="Text 3"/>
          <p:cNvSpPr/>
          <p:nvPr/>
        </p:nvSpPr>
        <p:spPr>
          <a:xfrm>
            <a:off x="1020604" y="4029670"/>
            <a:ext cx="2636877" cy="2177415"/>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Phishing websites operate for mere hours, rendering blacklist-based detection obsolete before updates can propagate.</a:t>
            </a:r>
            <a:endParaRPr lang="en-US" sz="1750" dirty="0"/>
          </a:p>
        </p:txBody>
      </p:sp>
      <p:sp>
        <p:nvSpPr>
          <p:cNvPr id="6" name="Shape 4"/>
          <p:cNvSpPr/>
          <p:nvPr/>
        </p:nvSpPr>
        <p:spPr>
          <a:xfrm>
            <a:off x="4111109" y="2958108"/>
            <a:ext cx="3090624" cy="3475792"/>
          </a:xfrm>
          <a:prstGeom prst="roundRect">
            <a:avLst>
              <a:gd name="adj" fmla="val 1101"/>
            </a:avLst>
          </a:prstGeom>
          <a:solidFill>
            <a:srgbClr val="F2EEEE"/>
          </a:solidFill>
          <a:ln/>
        </p:spPr>
      </p:sp>
      <p:sp>
        <p:nvSpPr>
          <p:cNvPr id="7" name="Text 5"/>
          <p:cNvSpPr/>
          <p:nvPr/>
        </p:nvSpPr>
        <p:spPr>
          <a:xfrm>
            <a:off x="4337923" y="3184922"/>
            <a:ext cx="2636996" cy="708660"/>
          </a:xfrm>
          <a:prstGeom prst="rect">
            <a:avLst/>
          </a:prstGeom>
          <a:noFill/>
          <a:ln/>
        </p:spPr>
        <p:txBody>
          <a:bodyPr wrap="squar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Zero-Day Vulnerabilities</a:t>
            </a:r>
            <a:endParaRPr lang="en-US" sz="2200" dirty="0"/>
          </a:p>
        </p:txBody>
      </p:sp>
      <p:sp>
        <p:nvSpPr>
          <p:cNvPr id="8" name="Text 6"/>
          <p:cNvSpPr/>
          <p:nvPr/>
        </p:nvSpPr>
        <p:spPr>
          <a:xfrm>
            <a:off x="4337923" y="4029670"/>
            <a:ext cx="2636996" cy="1814513"/>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Traditional systems fail against newly created domains that haven't yet been catalogued or reported.</a:t>
            </a:r>
            <a:endParaRPr lang="en-US" sz="1750" dirty="0"/>
          </a:p>
        </p:txBody>
      </p:sp>
      <p:sp>
        <p:nvSpPr>
          <p:cNvPr id="9" name="Shape 7"/>
          <p:cNvSpPr/>
          <p:nvPr/>
        </p:nvSpPr>
        <p:spPr>
          <a:xfrm>
            <a:off x="7428548" y="2958108"/>
            <a:ext cx="3090624" cy="3475792"/>
          </a:xfrm>
          <a:prstGeom prst="roundRect">
            <a:avLst>
              <a:gd name="adj" fmla="val 1101"/>
            </a:avLst>
          </a:prstGeom>
          <a:solidFill>
            <a:srgbClr val="F2EEEE"/>
          </a:solidFill>
          <a:ln/>
        </p:spPr>
      </p:sp>
      <p:sp>
        <p:nvSpPr>
          <p:cNvPr id="10" name="Text 8"/>
          <p:cNvSpPr/>
          <p:nvPr/>
        </p:nvSpPr>
        <p:spPr>
          <a:xfrm>
            <a:off x="7655362" y="3184922"/>
            <a:ext cx="2636996" cy="708660"/>
          </a:xfrm>
          <a:prstGeom prst="rect">
            <a:avLst/>
          </a:prstGeom>
          <a:noFill/>
          <a:ln/>
        </p:spPr>
        <p:txBody>
          <a:bodyPr wrap="squar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Real-Time Protection</a:t>
            </a:r>
            <a:endParaRPr lang="en-US" sz="2200" dirty="0"/>
          </a:p>
        </p:txBody>
      </p:sp>
      <p:sp>
        <p:nvSpPr>
          <p:cNvPr id="11" name="Text 9"/>
          <p:cNvSpPr/>
          <p:nvPr/>
        </p:nvSpPr>
        <p:spPr>
          <a:xfrm>
            <a:off x="7655362" y="4029670"/>
            <a:ext cx="2636996" cy="1814513"/>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Network-level detection identifies threats before users engage, providing a critical first line of defence.</a:t>
            </a:r>
            <a:endParaRPr lang="en-US" sz="1750" dirty="0"/>
          </a:p>
        </p:txBody>
      </p:sp>
      <p:sp>
        <p:nvSpPr>
          <p:cNvPr id="12" name="Shape 10"/>
          <p:cNvSpPr/>
          <p:nvPr/>
        </p:nvSpPr>
        <p:spPr>
          <a:xfrm>
            <a:off x="10745986" y="2958108"/>
            <a:ext cx="3090624" cy="3475792"/>
          </a:xfrm>
          <a:prstGeom prst="roundRect">
            <a:avLst>
              <a:gd name="adj" fmla="val 1101"/>
            </a:avLst>
          </a:prstGeom>
          <a:solidFill>
            <a:srgbClr val="F2EEEE"/>
          </a:solidFill>
          <a:ln/>
        </p:spPr>
      </p:sp>
      <p:sp>
        <p:nvSpPr>
          <p:cNvPr id="13" name="Text 11"/>
          <p:cNvSpPr/>
          <p:nvPr/>
        </p:nvSpPr>
        <p:spPr>
          <a:xfrm>
            <a:off x="10972800" y="3184922"/>
            <a:ext cx="2636996" cy="708660"/>
          </a:xfrm>
          <a:prstGeom prst="rect">
            <a:avLst/>
          </a:prstGeom>
          <a:noFill/>
          <a:ln/>
        </p:spPr>
        <p:txBody>
          <a:bodyPr wrap="squar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Educational Relevance</a:t>
            </a:r>
            <a:endParaRPr lang="en-US" sz="2200" dirty="0"/>
          </a:p>
        </p:txBody>
      </p:sp>
      <p:sp>
        <p:nvSpPr>
          <p:cNvPr id="14" name="Text 12"/>
          <p:cNvSpPr/>
          <p:nvPr/>
        </p:nvSpPr>
        <p:spPr>
          <a:xfrm>
            <a:off x="10972800" y="4029670"/>
            <a:ext cx="2636996" cy="2177415"/>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Enhances cybersecurity awareness whilst providing practical experience in network security implementation.</a:t>
            </a:r>
            <a:endParaRPr lang="en-US" sz="1750" dirty="0"/>
          </a:p>
        </p:txBody>
      </p:sp>
      <p:sp>
        <p:nvSpPr>
          <p:cNvPr id="17" name="Rectangle 16">
            <a:extLst>
              <a:ext uri="{FF2B5EF4-FFF2-40B4-BE49-F238E27FC236}">
                <a16:creationId xmlns:a16="http://schemas.microsoft.com/office/drawing/2014/main" id="{9A5AAE43-468D-1F9A-9F50-A86E67EBE187}"/>
              </a:ext>
            </a:extLst>
          </p:cNvPr>
          <p:cNvSpPr/>
          <p:nvPr/>
        </p:nvSpPr>
        <p:spPr>
          <a:xfrm>
            <a:off x="12820650" y="7724775"/>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4882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Problem Statement</a:t>
            </a:r>
            <a:endParaRPr lang="en-US" sz="4450" dirty="0"/>
          </a:p>
        </p:txBody>
      </p:sp>
      <p:sp>
        <p:nvSpPr>
          <p:cNvPr id="3" name="Shape 1"/>
          <p:cNvSpPr/>
          <p:nvPr/>
        </p:nvSpPr>
        <p:spPr>
          <a:xfrm>
            <a:off x="630436" y="2097762"/>
            <a:ext cx="6571417" cy="5083016"/>
          </a:xfrm>
          <a:prstGeom prst="roundRect">
            <a:avLst>
              <a:gd name="adj" fmla="val 669"/>
            </a:avLst>
          </a:prstGeom>
          <a:solidFill>
            <a:srgbClr val="BE49DF"/>
          </a:solidFill>
          <a:ln/>
        </p:spPr>
      </p:sp>
      <p:sp>
        <p:nvSpPr>
          <p:cNvPr id="4" name="Text 2"/>
          <p:cNvSpPr/>
          <p:nvPr/>
        </p:nvSpPr>
        <p:spPr>
          <a:xfrm>
            <a:off x="857250" y="2324576"/>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030303"/>
                </a:solidFill>
                <a:latin typeface="DM Sans Semi Bold" pitchFamily="34" charset="0"/>
                <a:ea typeface="DM Sans Semi Bold" pitchFamily="34" charset="-122"/>
                <a:cs typeface="DM Sans Semi Bold" pitchFamily="34" charset="-120"/>
              </a:rPr>
              <a:t>The Challenge</a:t>
            </a:r>
            <a:endParaRPr lang="en-US" sz="2650" dirty="0"/>
          </a:p>
        </p:txBody>
      </p:sp>
      <p:sp>
        <p:nvSpPr>
          <p:cNvPr id="5" name="Text 3"/>
          <p:cNvSpPr/>
          <p:nvPr/>
        </p:nvSpPr>
        <p:spPr>
          <a:xfrm>
            <a:off x="857250" y="2976682"/>
            <a:ext cx="6117788" cy="1088708"/>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Medium" pitchFamily="34" charset="0"/>
                <a:ea typeface="Inter Medium" pitchFamily="34" charset="-122"/>
                <a:cs typeface="Inter Medium" pitchFamily="34" charset="-120"/>
              </a:rPr>
              <a:t>Phishing websites successfully impersonate legitimate platforms to harvest user credentials and sensitive data through social engineering.</a:t>
            </a:r>
            <a:endParaRPr lang="en-US" sz="1750" dirty="0"/>
          </a:p>
        </p:txBody>
      </p:sp>
      <p:sp>
        <p:nvSpPr>
          <p:cNvPr id="6" name="Text 4"/>
          <p:cNvSpPr/>
          <p:nvPr/>
        </p:nvSpPr>
        <p:spPr>
          <a:xfrm>
            <a:off x="7599521" y="232457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Current Limitations</a:t>
            </a:r>
            <a:endParaRPr lang="en-US" sz="2200" dirty="0"/>
          </a:p>
        </p:txBody>
      </p:sp>
      <p:sp>
        <p:nvSpPr>
          <p:cNvPr id="7" name="Text 5"/>
          <p:cNvSpPr/>
          <p:nvPr/>
        </p:nvSpPr>
        <p:spPr>
          <a:xfrm>
            <a:off x="7599521" y="2905720"/>
            <a:ext cx="6244709" cy="254047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Heavy reliance on pre-compiled blacklists that lag behind emerging threats</a:t>
            </a:r>
            <a:endParaRPr lang="en-US" sz="1750" dirty="0"/>
          </a:p>
          <a:p>
            <a:pPr marL="342900" indent="-342900" algn="l">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Signature-based detection fails against novel attack patterns</a:t>
            </a:r>
            <a:endParaRPr lang="en-US" sz="1750" dirty="0"/>
          </a:p>
          <a:p>
            <a:pPr marL="342900" indent="-342900" algn="l">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Zero-day phishing domains bypass traditional security measures</a:t>
            </a:r>
            <a:endParaRPr lang="en-US" sz="1750" dirty="0"/>
          </a:p>
          <a:p>
            <a:pPr marL="342900" indent="-342900" algn="l">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No dynamic analysis of DNS and HTTP traffic patterns</a:t>
            </a:r>
            <a:endParaRPr lang="en-US" sz="1750" dirty="0"/>
          </a:p>
        </p:txBody>
      </p:sp>
      <p:sp>
        <p:nvSpPr>
          <p:cNvPr id="8" name="Text 6"/>
          <p:cNvSpPr/>
          <p:nvPr/>
        </p:nvSpPr>
        <p:spPr>
          <a:xfrm>
            <a:off x="7599521" y="5650266"/>
            <a:ext cx="6244709" cy="1088708"/>
          </a:xfrm>
          <a:prstGeom prst="rect">
            <a:avLst/>
          </a:prstGeom>
          <a:noFill/>
          <a:ln/>
        </p:spPr>
        <p:txBody>
          <a:bodyPr wrap="square" lIns="0" tIns="0" rIns="0" bIns="0" rtlCol="0" anchor="t"/>
          <a:lstStyle/>
          <a:p>
            <a:pPr marL="0" indent="0" algn="l">
              <a:lnSpc>
                <a:spcPts val="2850"/>
              </a:lnSpc>
              <a:buNone/>
            </a:pPr>
            <a:r>
              <a:rPr lang="en-US" sz="1750" b="1" dirty="0">
                <a:solidFill>
                  <a:srgbClr val="464646"/>
                </a:solidFill>
                <a:latin typeface="Inter Medium" pitchFamily="34" charset="0"/>
                <a:ea typeface="Inter Medium" pitchFamily="34" charset="-122"/>
                <a:cs typeface="Inter Medium" pitchFamily="34" charset="-120"/>
              </a:rPr>
              <a:t>Solution:</a:t>
            </a:r>
            <a:r>
              <a:rPr lang="en-US" sz="1750" dirty="0">
                <a:solidFill>
                  <a:srgbClr val="464646"/>
                </a:solidFill>
                <a:latin typeface="Inter Medium" pitchFamily="34" charset="0"/>
                <a:ea typeface="Inter Medium" pitchFamily="34" charset="-122"/>
                <a:cs typeface="Inter Medium" pitchFamily="34" charset="-120"/>
              </a:rPr>
              <a:t> An automated system employing intelligent techniques to analyse network traffic dynamically and detect phishing attempts in real time.</a:t>
            </a:r>
            <a:endParaRPr lang="en-US" sz="1750" dirty="0"/>
          </a:p>
        </p:txBody>
      </p:sp>
      <p:sp>
        <p:nvSpPr>
          <p:cNvPr id="9" name="Rectangle 8">
            <a:extLst>
              <a:ext uri="{FF2B5EF4-FFF2-40B4-BE49-F238E27FC236}">
                <a16:creationId xmlns:a16="http://schemas.microsoft.com/office/drawing/2014/main" id="{4A759CEF-1AFC-B3AF-DCC5-996693E88A62}"/>
              </a:ext>
            </a:extLst>
          </p:cNvPr>
          <p:cNvSpPr/>
          <p:nvPr/>
        </p:nvSpPr>
        <p:spPr>
          <a:xfrm>
            <a:off x="12820650" y="7724775"/>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1121331"/>
            <a:ext cx="1290518" cy="426244"/>
          </a:xfrm>
          <a:prstGeom prst="roundRect">
            <a:avLst>
              <a:gd name="adj" fmla="val 6386"/>
            </a:avLst>
          </a:prstGeom>
          <a:solidFill>
            <a:srgbClr val="D4F7EC"/>
          </a:solidFill>
          <a:ln/>
        </p:spPr>
      </p:sp>
      <p:sp>
        <p:nvSpPr>
          <p:cNvPr id="3" name="Text 1"/>
          <p:cNvSpPr/>
          <p:nvPr/>
        </p:nvSpPr>
        <p:spPr>
          <a:xfrm>
            <a:off x="929878" y="1189315"/>
            <a:ext cx="1018342" cy="290274"/>
          </a:xfrm>
          <a:prstGeom prst="rect">
            <a:avLst/>
          </a:prstGeom>
          <a:noFill/>
          <a:ln/>
        </p:spPr>
        <p:txBody>
          <a:bodyPr wrap="non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CHAPTER 2</a:t>
            </a:r>
            <a:endParaRPr lang="en-US" sz="1400" dirty="0"/>
          </a:p>
        </p:txBody>
      </p:sp>
      <p:sp>
        <p:nvSpPr>
          <p:cNvPr id="4" name="Text 2"/>
          <p:cNvSpPr/>
          <p:nvPr/>
        </p:nvSpPr>
        <p:spPr>
          <a:xfrm>
            <a:off x="793790" y="163830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Project Objectives</a:t>
            </a:r>
            <a:endParaRPr lang="en-US" sz="4450" dirty="0"/>
          </a:p>
        </p:txBody>
      </p:sp>
      <p:sp>
        <p:nvSpPr>
          <p:cNvPr id="5" name="Text 3"/>
          <p:cNvSpPr/>
          <p:nvPr/>
        </p:nvSpPr>
        <p:spPr>
          <a:xfrm>
            <a:off x="793790" y="268724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64646"/>
                </a:solidFill>
                <a:latin typeface="DM Sans Light" pitchFamily="34" charset="0"/>
                <a:ea typeface="DM Sans Light" pitchFamily="34" charset="-122"/>
                <a:cs typeface="DM Sans Light" pitchFamily="34" charset="-120"/>
              </a:rPr>
              <a:t>01</a:t>
            </a:r>
            <a:endParaRPr lang="en-US" sz="1750" dirty="0"/>
          </a:p>
        </p:txBody>
      </p:sp>
      <p:sp>
        <p:nvSpPr>
          <p:cNvPr id="6" name="Shape 4"/>
          <p:cNvSpPr/>
          <p:nvPr/>
        </p:nvSpPr>
        <p:spPr>
          <a:xfrm>
            <a:off x="793790" y="3042285"/>
            <a:ext cx="4196358" cy="30480"/>
          </a:xfrm>
          <a:prstGeom prst="rect">
            <a:avLst/>
          </a:prstGeom>
          <a:solidFill>
            <a:srgbClr val="1C9770"/>
          </a:solidFill>
          <a:ln/>
        </p:spPr>
      </p:sp>
      <p:sp>
        <p:nvSpPr>
          <p:cNvPr id="7" name="Text 5"/>
          <p:cNvSpPr/>
          <p:nvPr/>
        </p:nvSpPr>
        <p:spPr>
          <a:xfrm>
            <a:off x="793790" y="321659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Live Traffic Capture</a:t>
            </a:r>
            <a:endParaRPr lang="en-US" sz="2200" dirty="0"/>
          </a:p>
        </p:txBody>
      </p:sp>
      <p:sp>
        <p:nvSpPr>
          <p:cNvPr id="8" name="Text 6"/>
          <p:cNvSpPr/>
          <p:nvPr/>
        </p:nvSpPr>
        <p:spPr>
          <a:xfrm>
            <a:off x="793790" y="3707011"/>
            <a:ext cx="4196358" cy="1088708"/>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Implement packet sniffing to capture DNS and HTTP network traffic in real time</a:t>
            </a:r>
            <a:endParaRPr lang="en-US" sz="1750" dirty="0"/>
          </a:p>
        </p:txBody>
      </p:sp>
      <p:sp>
        <p:nvSpPr>
          <p:cNvPr id="9" name="Text 7"/>
          <p:cNvSpPr/>
          <p:nvPr/>
        </p:nvSpPr>
        <p:spPr>
          <a:xfrm>
            <a:off x="5216962" y="268724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64646"/>
                </a:solidFill>
                <a:latin typeface="DM Sans Light" pitchFamily="34" charset="0"/>
                <a:ea typeface="DM Sans Light" pitchFamily="34" charset="-122"/>
                <a:cs typeface="DM Sans Light" pitchFamily="34" charset="-120"/>
              </a:rPr>
              <a:t>02</a:t>
            </a:r>
            <a:endParaRPr lang="en-US" sz="1750" dirty="0"/>
          </a:p>
        </p:txBody>
      </p:sp>
      <p:sp>
        <p:nvSpPr>
          <p:cNvPr id="10" name="Shape 8"/>
          <p:cNvSpPr/>
          <p:nvPr/>
        </p:nvSpPr>
        <p:spPr>
          <a:xfrm>
            <a:off x="5216962" y="3042285"/>
            <a:ext cx="4196358" cy="30480"/>
          </a:xfrm>
          <a:prstGeom prst="rect">
            <a:avLst/>
          </a:prstGeom>
          <a:solidFill>
            <a:srgbClr val="1C9770"/>
          </a:solidFill>
          <a:ln/>
        </p:spPr>
      </p:sp>
      <p:sp>
        <p:nvSpPr>
          <p:cNvPr id="11" name="Text 9"/>
          <p:cNvSpPr/>
          <p:nvPr/>
        </p:nvSpPr>
        <p:spPr>
          <a:xfrm>
            <a:off x="5216962" y="321659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Data Extraction</a:t>
            </a:r>
            <a:endParaRPr lang="en-US" sz="2200" dirty="0"/>
          </a:p>
        </p:txBody>
      </p:sp>
      <p:sp>
        <p:nvSpPr>
          <p:cNvPr id="12" name="Text 10"/>
          <p:cNvSpPr/>
          <p:nvPr/>
        </p:nvSpPr>
        <p:spPr>
          <a:xfrm>
            <a:off x="5216962" y="3707011"/>
            <a:ext cx="4196358" cy="1088708"/>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Parse network packets to extract domains, URLs, and relevant metadata for analysis</a:t>
            </a:r>
            <a:endParaRPr lang="en-US" sz="1750" dirty="0"/>
          </a:p>
        </p:txBody>
      </p:sp>
      <p:sp>
        <p:nvSpPr>
          <p:cNvPr id="13" name="Text 11"/>
          <p:cNvSpPr/>
          <p:nvPr/>
        </p:nvSpPr>
        <p:spPr>
          <a:xfrm>
            <a:off x="9640133" y="268724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64646"/>
                </a:solidFill>
                <a:latin typeface="DM Sans Light" pitchFamily="34" charset="0"/>
                <a:ea typeface="DM Sans Light" pitchFamily="34" charset="-122"/>
                <a:cs typeface="DM Sans Light" pitchFamily="34" charset="-120"/>
              </a:rPr>
              <a:t>03</a:t>
            </a:r>
            <a:endParaRPr lang="en-US" sz="1750" dirty="0"/>
          </a:p>
        </p:txBody>
      </p:sp>
      <p:sp>
        <p:nvSpPr>
          <p:cNvPr id="14" name="Shape 12"/>
          <p:cNvSpPr/>
          <p:nvPr/>
        </p:nvSpPr>
        <p:spPr>
          <a:xfrm>
            <a:off x="9640133" y="3042285"/>
            <a:ext cx="4196358" cy="30480"/>
          </a:xfrm>
          <a:prstGeom prst="rect">
            <a:avLst/>
          </a:prstGeom>
          <a:solidFill>
            <a:srgbClr val="1C9770"/>
          </a:solidFill>
          <a:ln/>
        </p:spPr>
      </p:sp>
      <p:sp>
        <p:nvSpPr>
          <p:cNvPr id="15" name="Text 13"/>
          <p:cNvSpPr/>
          <p:nvPr/>
        </p:nvSpPr>
        <p:spPr>
          <a:xfrm>
            <a:off x="9640133" y="3216592"/>
            <a:ext cx="3005733"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Rule-Based Detection</a:t>
            </a:r>
            <a:endParaRPr lang="en-US" sz="2200" dirty="0"/>
          </a:p>
        </p:txBody>
      </p:sp>
      <p:sp>
        <p:nvSpPr>
          <p:cNvPr id="16" name="Text 14"/>
          <p:cNvSpPr/>
          <p:nvPr/>
        </p:nvSpPr>
        <p:spPr>
          <a:xfrm>
            <a:off x="9640133" y="3707011"/>
            <a:ext cx="4196358" cy="1088708"/>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Apply heuristic techniques to identify suspicious patterns and known phishing indicators</a:t>
            </a:r>
            <a:endParaRPr lang="en-US" sz="1750" dirty="0"/>
          </a:p>
        </p:txBody>
      </p:sp>
      <p:sp>
        <p:nvSpPr>
          <p:cNvPr id="17" name="Text 15"/>
          <p:cNvSpPr/>
          <p:nvPr/>
        </p:nvSpPr>
        <p:spPr>
          <a:xfrm>
            <a:off x="793790" y="5192554"/>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64646"/>
                </a:solidFill>
                <a:latin typeface="DM Sans Light" pitchFamily="34" charset="0"/>
                <a:ea typeface="DM Sans Light" pitchFamily="34" charset="-122"/>
                <a:cs typeface="DM Sans Light" pitchFamily="34" charset="-120"/>
              </a:rPr>
              <a:t>04</a:t>
            </a:r>
            <a:endParaRPr lang="en-US" sz="1750" dirty="0"/>
          </a:p>
        </p:txBody>
      </p:sp>
      <p:sp>
        <p:nvSpPr>
          <p:cNvPr id="18" name="Shape 16"/>
          <p:cNvSpPr/>
          <p:nvPr/>
        </p:nvSpPr>
        <p:spPr>
          <a:xfrm>
            <a:off x="793790" y="5547598"/>
            <a:ext cx="6407944" cy="30480"/>
          </a:xfrm>
          <a:prstGeom prst="rect">
            <a:avLst/>
          </a:prstGeom>
          <a:solidFill>
            <a:srgbClr val="1C9770"/>
          </a:solidFill>
          <a:ln/>
        </p:spPr>
      </p:sp>
      <p:sp>
        <p:nvSpPr>
          <p:cNvPr id="19" name="Text 17"/>
          <p:cNvSpPr/>
          <p:nvPr/>
        </p:nvSpPr>
        <p:spPr>
          <a:xfrm>
            <a:off x="793790" y="572190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ML Classification</a:t>
            </a:r>
            <a:endParaRPr lang="en-US" sz="2200" dirty="0"/>
          </a:p>
        </p:txBody>
      </p:sp>
      <p:sp>
        <p:nvSpPr>
          <p:cNvPr id="20" name="Text 18"/>
          <p:cNvSpPr/>
          <p:nvPr/>
        </p:nvSpPr>
        <p:spPr>
          <a:xfrm>
            <a:off x="793790" y="6212324"/>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Leverage machine learning models to distinguish between phishing and legitimate URLs with improved accuracy</a:t>
            </a:r>
            <a:endParaRPr lang="en-US" sz="1750" dirty="0"/>
          </a:p>
        </p:txBody>
      </p:sp>
      <p:sp>
        <p:nvSpPr>
          <p:cNvPr id="21" name="Text 19"/>
          <p:cNvSpPr/>
          <p:nvPr/>
        </p:nvSpPr>
        <p:spPr>
          <a:xfrm>
            <a:off x="7428548" y="5192554"/>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64646"/>
                </a:solidFill>
                <a:latin typeface="DM Sans Light" pitchFamily="34" charset="0"/>
                <a:ea typeface="DM Sans Light" pitchFamily="34" charset="-122"/>
                <a:cs typeface="DM Sans Light" pitchFamily="34" charset="-120"/>
              </a:rPr>
              <a:t>05</a:t>
            </a:r>
            <a:endParaRPr lang="en-US" sz="1750" dirty="0"/>
          </a:p>
        </p:txBody>
      </p:sp>
      <p:sp>
        <p:nvSpPr>
          <p:cNvPr id="22" name="Shape 20"/>
          <p:cNvSpPr/>
          <p:nvPr/>
        </p:nvSpPr>
        <p:spPr>
          <a:xfrm>
            <a:off x="7428548" y="5547598"/>
            <a:ext cx="6407944" cy="30480"/>
          </a:xfrm>
          <a:prstGeom prst="rect">
            <a:avLst/>
          </a:prstGeom>
          <a:solidFill>
            <a:srgbClr val="1C9770"/>
          </a:solidFill>
          <a:ln/>
        </p:spPr>
      </p:sp>
      <p:sp>
        <p:nvSpPr>
          <p:cNvPr id="23" name="Text 21"/>
          <p:cNvSpPr/>
          <p:nvPr/>
        </p:nvSpPr>
        <p:spPr>
          <a:xfrm>
            <a:off x="7428548" y="572190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Alert System</a:t>
            </a:r>
            <a:endParaRPr lang="en-US" sz="2200" dirty="0"/>
          </a:p>
        </p:txBody>
      </p:sp>
      <p:sp>
        <p:nvSpPr>
          <p:cNvPr id="24" name="Text 22"/>
          <p:cNvSpPr/>
          <p:nvPr/>
        </p:nvSpPr>
        <p:spPr>
          <a:xfrm>
            <a:off x="7428548" y="6212324"/>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Generate real-time alerts and comprehensive logs for detected phishing activities</a:t>
            </a:r>
            <a:endParaRPr lang="en-US" sz="1750" dirty="0"/>
          </a:p>
        </p:txBody>
      </p:sp>
      <p:sp>
        <p:nvSpPr>
          <p:cNvPr id="25" name="Rectangle 24">
            <a:extLst>
              <a:ext uri="{FF2B5EF4-FFF2-40B4-BE49-F238E27FC236}">
                <a16:creationId xmlns:a16="http://schemas.microsoft.com/office/drawing/2014/main" id="{FEEC39DE-9BED-8D97-592F-1C632FA84BB6}"/>
              </a:ext>
            </a:extLst>
          </p:cNvPr>
          <p:cNvSpPr/>
          <p:nvPr/>
        </p:nvSpPr>
        <p:spPr>
          <a:xfrm>
            <a:off x="12820650" y="7724775"/>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9379" y="588764"/>
            <a:ext cx="9597509" cy="669131"/>
          </a:xfrm>
          <a:prstGeom prst="rect">
            <a:avLst/>
          </a:prstGeom>
          <a:noFill/>
          <a:ln/>
        </p:spPr>
        <p:txBody>
          <a:bodyPr wrap="none" lIns="0" tIns="0" rIns="0" bIns="0" rtlCol="0" anchor="t"/>
          <a:lstStyle/>
          <a:p>
            <a:pPr marL="0" indent="0" algn="l">
              <a:lnSpc>
                <a:spcPts val="5250"/>
              </a:lnSpc>
              <a:buNone/>
            </a:pPr>
            <a:r>
              <a:rPr lang="en-US" sz="4200" dirty="0">
                <a:solidFill>
                  <a:srgbClr val="030303"/>
                </a:solidFill>
                <a:latin typeface="DM Sans Semi Bold" pitchFamily="34" charset="0"/>
                <a:ea typeface="DM Sans Semi Bold" pitchFamily="34" charset="-122"/>
                <a:cs typeface="DM Sans Semi Bold" pitchFamily="34" charset="-120"/>
              </a:rPr>
              <a:t>Solution Architecture &amp; Methodology</a:t>
            </a:r>
            <a:endParaRPr lang="en-US" sz="4200" dirty="0"/>
          </a:p>
        </p:txBody>
      </p:sp>
      <p:pic>
        <p:nvPicPr>
          <p:cNvPr id="3" name="Image 0" descr="preencoded.png"/>
          <p:cNvPicPr>
            <a:picLocks noChangeAspect="1"/>
          </p:cNvPicPr>
          <p:nvPr/>
        </p:nvPicPr>
        <p:blipFill>
          <a:blip r:embed="rId3"/>
          <a:stretch>
            <a:fillRect/>
          </a:stretch>
        </p:blipFill>
        <p:spPr>
          <a:xfrm>
            <a:off x="959644" y="1662113"/>
            <a:ext cx="12710993" cy="4769763"/>
          </a:xfrm>
          <a:prstGeom prst="rect">
            <a:avLst/>
          </a:prstGeom>
        </p:spPr>
      </p:pic>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14986" y="2877056"/>
            <a:ext cx="656577" cy="656577"/>
          </a:xfrm>
          <a:prstGeom prst="rect">
            <a:avLst/>
          </a:prstGeom>
        </p:spPr>
      </p:pic>
      <p:sp>
        <p:nvSpPr>
          <p:cNvPr id="5" name="Text 1"/>
          <p:cNvSpPr/>
          <p:nvPr/>
        </p:nvSpPr>
        <p:spPr>
          <a:xfrm>
            <a:off x="11230018" y="5089309"/>
            <a:ext cx="1917203" cy="738649"/>
          </a:xfrm>
          <a:prstGeom prst="rect">
            <a:avLst/>
          </a:prstGeom>
          <a:noFill/>
          <a:ln/>
        </p:spPr>
        <p:txBody>
          <a:bodyPr wrap="square" lIns="0" tIns="0" rIns="0" bIns="0" rtlCol="0" anchor="t"/>
          <a:lstStyle/>
          <a:p>
            <a:pPr marL="0" indent="0" algn="ctr">
              <a:lnSpc>
                <a:spcPts val="2900"/>
              </a:lnSpc>
              <a:buNone/>
            </a:pPr>
            <a:r>
              <a:rPr lang="en-US" sz="2300" dirty="0">
                <a:solidFill>
                  <a:srgbClr val="464646"/>
                </a:solidFill>
                <a:latin typeface="DM Sans Semi Bold" pitchFamily="34" charset="0"/>
                <a:ea typeface="DM Sans Semi Bold" pitchFamily="34" charset="-122"/>
                <a:cs typeface="DM Sans Semi Bold" pitchFamily="34" charset="-120"/>
              </a:rPr>
              <a:t>Alert &amp; Logging</a:t>
            </a:r>
            <a:endParaRPr lang="en-US" sz="2300" dirty="0"/>
          </a:p>
        </p:txBody>
      </p:sp>
      <p:pic>
        <p:nvPicPr>
          <p:cNvPr id="6"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11301" y="2878288"/>
            <a:ext cx="656576" cy="656577"/>
          </a:xfrm>
          <a:prstGeom prst="rect">
            <a:avLst/>
          </a:prstGeom>
        </p:spPr>
      </p:pic>
      <p:sp>
        <p:nvSpPr>
          <p:cNvPr id="7" name="Text 2"/>
          <p:cNvSpPr/>
          <p:nvPr/>
        </p:nvSpPr>
        <p:spPr>
          <a:xfrm>
            <a:off x="8813816" y="4904647"/>
            <a:ext cx="1917204" cy="1107973"/>
          </a:xfrm>
          <a:prstGeom prst="rect">
            <a:avLst/>
          </a:prstGeom>
          <a:noFill/>
          <a:ln/>
        </p:spPr>
        <p:txBody>
          <a:bodyPr wrap="square" lIns="0" tIns="0" rIns="0" bIns="0" rtlCol="0" anchor="t"/>
          <a:lstStyle/>
          <a:p>
            <a:pPr marL="0" indent="0" algn="ctr">
              <a:lnSpc>
                <a:spcPts val="2900"/>
              </a:lnSpc>
              <a:buNone/>
            </a:pPr>
            <a:r>
              <a:rPr lang="en-US" sz="2300" dirty="0">
                <a:solidFill>
                  <a:srgbClr val="464646"/>
                </a:solidFill>
                <a:latin typeface="DM Sans Semi Bold" pitchFamily="34" charset="0"/>
                <a:ea typeface="DM Sans Semi Bold" pitchFamily="34" charset="-122"/>
                <a:cs typeface="DM Sans Semi Bold" pitchFamily="34" charset="-120"/>
              </a:rPr>
              <a:t>ML Classification</a:t>
            </a:r>
            <a:endParaRPr lang="en-US" sz="2300" dirty="0"/>
          </a:p>
        </p:txBody>
      </p:sp>
      <p:pic>
        <p:nvPicPr>
          <p:cNvPr id="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08230" y="2878288"/>
            <a:ext cx="656577" cy="656577"/>
          </a:xfrm>
          <a:prstGeom prst="rect">
            <a:avLst/>
          </a:prstGeom>
        </p:spPr>
      </p:pic>
      <p:sp>
        <p:nvSpPr>
          <p:cNvPr id="9" name="Text 3"/>
          <p:cNvSpPr/>
          <p:nvPr/>
        </p:nvSpPr>
        <p:spPr>
          <a:xfrm>
            <a:off x="6410746" y="5089309"/>
            <a:ext cx="1917203" cy="738649"/>
          </a:xfrm>
          <a:prstGeom prst="rect">
            <a:avLst/>
          </a:prstGeom>
          <a:noFill/>
          <a:ln/>
        </p:spPr>
        <p:txBody>
          <a:bodyPr wrap="square" lIns="0" tIns="0" rIns="0" bIns="0" rtlCol="0" anchor="t"/>
          <a:lstStyle/>
          <a:p>
            <a:pPr marL="0" indent="0" algn="ctr">
              <a:lnSpc>
                <a:spcPts val="2900"/>
              </a:lnSpc>
              <a:buNone/>
            </a:pPr>
            <a:r>
              <a:rPr lang="en-US" sz="2300" dirty="0">
                <a:solidFill>
                  <a:srgbClr val="464646"/>
                </a:solidFill>
                <a:latin typeface="DM Sans Semi Bold" pitchFamily="34" charset="0"/>
                <a:ea typeface="DM Sans Semi Bold" pitchFamily="34" charset="-122"/>
                <a:cs typeface="DM Sans Semi Bold" pitchFamily="34" charset="-120"/>
              </a:rPr>
              <a:t>Rule Detection</a:t>
            </a:r>
            <a:endParaRPr lang="en-US" sz="2300" dirty="0"/>
          </a:p>
        </p:txBody>
      </p:sp>
      <p:pic>
        <p:nvPicPr>
          <p:cNvPr id="10"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05160" y="2878288"/>
            <a:ext cx="656577" cy="656577"/>
          </a:xfrm>
          <a:prstGeom prst="rect">
            <a:avLst/>
          </a:prstGeom>
        </p:spPr>
      </p:pic>
      <p:sp>
        <p:nvSpPr>
          <p:cNvPr id="11" name="Text 4"/>
          <p:cNvSpPr/>
          <p:nvPr/>
        </p:nvSpPr>
        <p:spPr>
          <a:xfrm>
            <a:off x="4007675" y="5089309"/>
            <a:ext cx="1917204" cy="738649"/>
          </a:xfrm>
          <a:prstGeom prst="rect">
            <a:avLst/>
          </a:prstGeom>
          <a:noFill/>
          <a:ln/>
        </p:spPr>
        <p:txBody>
          <a:bodyPr wrap="square" lIns="0" tIns="0" rIns="0" bIns="0" rtlCol="0" anchor="t"/>
          <a:lstStyle/>
          <a:p>
            <a:pPr marL="0" indent="0" algn="ctr">
              <a:lnSpc>
                <a:spcPts val="2900"/>
              </a:lnSpc>
              <a:buNone/>
            </a:pPr>
            <a:r>
              <a:rPr lang="en-US" sz="2300" dirty="0">
                <a:solidFill>
                  <a:srgbClr val="464646"/>
                </a:solidFill>
                <a:latin typeface="DM Sans Semi Bold" pitchFamily="34" charset="0"/>
                <a:ea typeface="DM Sans Semi Bold" pitchFamily="34" charset="-122"/>
                <a:cs typeface="DM Sans Semi Bold" pitchFamily="34" charset="-120"/>
              </a:rPr>
              <a:t>DNS &amp; HTTP Analysis</a:t>
            </a:r>
            <a:endParaRPr lang="en-US" sz="2300" dirty="0"/>
          </a:p>
        </p:txBody>
      </p:sp>
      <p:pic>
        <p:nvPicPr>
          <p:cNvPr id="12" name="Image 5"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88958" y="2878288"/>
            <a:ext cx="656577" cy="656577"/>
          </a:xfrm>
          <a:prstGeom prst="rect">
            <a:avLst/>
          </a:prstGeom>
        </p:spPr>
      </p:pic>
      <p:sp>
        <p:nvSpPr>
          <p:cNvPr id="13" name="Text 5"/>
          <p:cNvSpPr/>
          <p:nvPr/>
        </p:nvSpPr>
        <p:spPr>
          <a:xfrm>
            <a:off x="1552079" y="5089309"/>
            <a:ext cx="1917203" cy="738649"/>
          </a:xfrm>
          <a:prstGeom prst="rect">
            <a:avLst/>
          </a:prstGeom>
          <a:noFill/>
          <a:ln/>
        </p:spPr>
        <p:txBody>
          <a:bodyPr wrap="square" lIns="0" tIns="0" rIns="0" bIns="0" rtlCol="0" anchor="t"/>
          <a:lstStyle/>
          <a:p>
            <a:pPr marL="0" indent="0" algn="ctr">
              <a:lnSpc>
                <a:spcPts val="2900"/>
              </a:lnSpc>
              <a:buNone/>
            </a:pPr>
            <a:r>
              <a:rPr lang="en-US" sz="2300" dirty="0">
                <a:solidFill>
                  <a:srgbClr val="464646"/>
                </a:solidFill>
                <a:latin typeface="DM Sans Semi Bold" pitchFamily="34" charset="0"/>
                <a:ea typeface="DM Sans Semi Bold" pitchFamily="34" charset="-122"/>
                <a:cs typeface="DM Sans Semi Bold" pitchFamily="34" charset="-120"/>
              </a:rPr>
              <a:t>Packet Capture</a:t>
            </a:r>
            <a:endParaRPr lang="en-US" sz="2300" dirty="0"/>
          </a:p>
        </p:txBody>
      </p:sp>
      <p:sp>
        <p:nvSpPr>
          <p:cNvPr id="14" name="Text 6"/>
          <p:cNvSpPr/>
          <p:nvPr/>
        </p:nvSpPr>
        <p:spPr>
          <a:xfrm>
            <a:off x="749379" y="6659166"/>
            <a:ext cx="13131641" cy="998696"/>
          </a:xfrm>
          <a:prstGeom prst="rect">
            <a:avLst/>
          </a:prstGeom>
          <a:noFill/>
          <a:ln/>
        </p:spPr>
        <p:txBody>
          <a:bodyPr wrap="square" lIns="0" tIns="0" rIns="0" bIns="0" rtlCol="0" anchor="t"/>
          <a:lstStyle/>
          <a:p>
            <a:pPr marL="0" indent="0" algn="l">
              <a:lnSpc>
                <a:spcPts val="2600"/>
              </a:lnSpc>
              <a:buNone/>
            </a:pPr>
            <a:r>
              <a:rPr lang="en-US" sz="1650" dirty="0">
                <a:solidFill>
                  <a:srgbClr val="464646"/>
                </a:solidFill>
                <a:latin typeface="Inter Medium" pitchFamily="34" charset="0"/>
                <a:ea typeface="Inter Medium" pitchFamily="34" charset="-122"/>
                <a:cs typeface="Inter Medium" pitchFamily="34" charset="-120"/>
              </a:rPr>
              <a:t>Our solution employs a multi-layered approach combining packet sniffing, pattern recognition, and machine learning. Traffic flows through progressive analysis stages, with each layer adding intelligence to the detection process, culminating in actionable alerts and detailed logging for security teams.</a:t>
            </a:r>
            <a:endParaRPr lang="en-US" sz="1650" dirty="0"/>
          </a:p>
        </p:txBody>
      </p:sp>
      <p:sp>
        <p:nvSpPr>
          <p:cNvPr id="15" name="Rectangle 14">
            <a:extLst>
              <a:ext uri="{FF2B5EF4-FFF2-40B4-BE49-F238E27FC236}">
                <a16:creationId xmlns:a16="http://schemas.microsoft.com/office/drawing/2014/main" id="{94FA97FD-2554-F333-605F-8F5EBBDC2C1C}"/>
              </a:ext>
            </a:extLst>
          </p:cNvPr>
          <p:cNvSpPr/>
          <p:nvPr/>
        </p:nvSpPr>
        <p:spPr>
          <a:xfrm>
            <a:off x="12820650" y="7724775"/>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7481" y="522089"/>
            <a:ext cx="4722971" cy="590312"/>
          </a:xfrm>
          <a:prstGeom prst="rect">
            <a:avLst/>
          </a:prstGeom>
          <a:noFill/>
          <a:ln/>
        </p:spPr>
        <p:txBody>
          <a:bodyPr wrap="none" lIns="0" tIns="0" rIns="0" bIns="0" rtlCol="0" anchor="t"/>
          <a:lstStyle/>
          <a:p>
            <a:pPr marL="0" indent="0" algn="l">
              <a:lnSpc>
                <a:spcPts val="4600"/>
              </a:lnSpc>
              <a:buNone/>
            </a:pPr>
            <a:r>
              <a:rPr lang="en-US" sz="3700" dirty="0">
                <a:solidFill>
                  <a:srgbClr val="030303"/>
                </a:solidFill>
                <a:latin typeface="DM Sans Semi Bold" pitchFamily="34" charset="0"/>
                <a:ea typeface="DM Sans Semi Bold" pitchFamily="34" charset="-122"/>
                <a:cs typeface="DM Sans Semi Bold" pitchFamily="34" charset="-120"/>
              </a:rPr>
              <a:t>Technical Stack</a:t>
            </a:r>
            <a:endParaRPr lang="en-US" sz="3700" dirty="0"/>
          </a:p>
        </p:txBody>
      </p:sp>
      <p:pic>
        <p:nvPicPr>
          <p:cNvPr id="3" name="Image 0" descr="preencoded.png"/>
          <p:cNvPicPr>
            <a:picLocks noChangeAspect="1"/>
          </p:cNvPicPr>
          <p:nvPr/>
        </p:nvPicPr>
        <p:blipFill>
          <a:blip r:embed="rId3"/>
          <a:stretch>
            <a:fillRect/>
          </a:stretch>
        </p:blipFill>
        <p:spPr>
          <a:xfrm>
            <a:off x="797481" y="1525310"/>
            <a:ext cx="8311753" cy="6005155"/>
          </a:xfrm>
          <a:prstGeom prst="rect">
            <a:avLst/>
          </a:prstGeom>
        </p:spPr>
      </p:pic>
      <p:sp>
        <p:nvSpPr>
          <p:cNvPr id="4" name="Text 1"/>
          <p:cNvSpPr/>
          <p:nvPr/>
        </p:nvSpPr>
        <p:spPr>
          <a:xfrm>
            <a:off x="9577626" y="2352318"/>
            <a:ext cx="2361486" cy="295037"/>
          </a:xfrm>
          <a:prstGeom prst="rect">
            <a:avLst/>
          </a:prstGeom>
          <a:noFill/>
          <a:ln/>
        </p:spPr>
        <p:txBody>
          <a:bodyPr wrap="none" lIns="0" tIns="0" rIns="0" bIns="0" rtlCol="0" anchor="t"/>
          <a:lstStyle/>
          <a:p>
            <a:pPr marL="0" indent="0" algn="l">
              <a:lnSpc>
                <a:spcPts val="2300"/>
              </a:lnSpc>
              <a:buNone/>
            </a:pPr>
            <a:r>
              <a:rPr lang="en-US" sz="1850" dirty="0">
                <a:solidFill>
                  <a:srgbClr val="030303"/>
                </a:solidFill>
                <a:latin typeface="DM Sans Semi Bold" pitchFamily="34" charset="0"/>
                <a:ea typeface="DM Sans Semi Bold" pitchFamily="34" charset="-122"/>
                <a:cs typeface="DM Sans Semi Bold" pitchFamily="34" charset="-120"/>
              </a:rPr>
              <a:t>Core Technologies</a:t>
            </a:r>
            <a:endParaRPr lang="en-US" sz="1850" dirty="0"/>
          </a:p>
        </p:txBody>
      </p:sp>
      <p:sp>
        <p:nvSpPr>
          <p:cNvPr id="5" name="Text 2"/>
          <p:cNvSpPr/>
          <p:nvPr/>
        </p:nvSpPr>
        <p:spPr>
          <a:xfrm>
            <a:off x="9577626" y="2804636"/>
            <a:ext cx="4262795" cy="277058"/>
          </a:xfrm>
          <a:prstGeom prst="rect">
            <a:avLst/>
          </a:prstGeom>
          <a:noFill/>
          <a:ln/>
        </p:spPr>
        <p:txBody>
          <a:bodyPr wrap="none" lIns="0" tIns="0" rIns="0" bIns="0" rtlCol="0" anchor="t"/>
          <a:lstStyle/>
          <a:p>
            <a:pPr marL="0" indent="0" algn="l">
              <a:lnSpc>
                <a:spcPts val="2150"/>
              </a:lnSpc>
              <a:buNone/>
            </a:pPr>
            <a:r>
              <a:rPr lang="en-US" sz="1450" b="1" dirty="0">
                <a:solidFill>
                  <a:srgbClr val="464646"/>
                </a:solidFill>
                <a:latin typeface="Inter Medium" pitchFamily="34" charset="0"/>
                <a:ea typeface="Inter Medium" pitchFamily="34" charset="-122"/>
                <a:cs typeface="Inter Medium" pitchFamily="34" charset="-120"/>
              </a:rPr>
              <a:t>Programming Language:</a:t>
            </a:r>
            <a:r>
              <a:rPr lang="en-US" sz="1450" dirty="0">
                <a:solidFill>
                  <a:srgbClr val="464646"/>
                </a:solidFill>
                <a:latin typeface="Inter Medium" pitchFamily="34" charset="0"/>
                <a:ea typeface="Inter Medium" pitchFamily="34" charset="-122"/>
                <a:cs typeface="Inter Medium" pitchFamily="34" charset="-120"/>
              </a:rPr>
              <a:t> Python 3.x</a:t>
            </a:r>
            <a:endParaRPr lang="en-US" sz="1450" dirty="0"/>
          </a:p>
        </p:txBody>
      </p:sp>
      <p:sp>
        <p:nvSpPr>
          <p:cNvPr id="6" name="Text 3"/>
          <p:cNvSpPr/>
          <p:nvPr/>
        </p:nvSpPr>
        <p:spPr>
          <a:xfrm>
            <a:off x="9577626" y="3223260"/>
            <a:ext cx="4262795" cy="277058"/>
          </a:xfrm>
          <a:prstGeom prst="rect">
            <a:avLst/>
          </a:prstGeom>
          <a:noFill/>
          <a:ln/>
        </p:spPr>
        <p:txBody>
          <a:bodyPr wrap="none" lIns="0" tIns="0" rIns="0" bIns="0" rtlCol="0" anchor="t"/>
          <a:lstStyle/>
          <a:p>
            <a:pPr marL="0" indent="0" algn="l">
              <a:lnSpc>
                <a:spcPts val="2150"/>
              </a:lnSpc>
              <a:buNone/>
            </a:pPr>
            <a:r>
              <a:rPr lang="en-US" sz="1450" b="1" dirty="0">
                <a:solidFill>
                  <a:srgbClr val="464646"/>
                </a:solidFill>
                <a:latin typeface="Inter Medium" pitchFamily="34" charset="0"/>
                <a:ea typeface="Inter Medium" pitchFamily="34" charset="-122"/>
                <a:cs typeface="Inter Medium" pitchFamily="34" charset="-120"/>
              </a:rPr>
              <a:t>Key Libraries:</a:t>
            </a:r>
            <a:endParaRPr lang="en-US" sz="1450" dirty="0"/>
          </a:p>
        </p:txBody>
      </p:sp>
      <p:sp>
        <p:nvSpPr>
          <p:cNvPr id="7" name="Text 4"/>
          <p:cNvSpPr/>
          <p:nvPr/>
        </p:nvSpPr>
        <p:spPr>
          <a:xfrm>
            <a:off x="9577626" y="3641884"/>
            <a:ext cx="4262795" cy="1939096"/>
          </a:xfrm>
          <a:prstGeom prst="rect">
            <a:avLst/>
          </a:prstGeom>
          <a:noFill/>
          <a:ln/>
        </p:spPr>
        <p:txBody>
          <a:bodyPr wrap="square" lIns="0" tIns="0" rIns="0" bIns="0" rtlCol="0" anchor="t"/>
          <a:lstStyle/>
          <a:p>
            <a:pPr marL="342900" indent="-342900" algn="l">
              <a:lnSpc>
                <a:spcPts val="2150"/>
              </a:lnSpc>
              <a:buSzPct val="100000"/>
              <a:buChar char="•"/>
            </a:pPr>
            <a:r>
              <a:rPr lang="en-US" sz="1450" b="1" dirty="0">
                <a:solidFill>
                  <a:srgbClr val="464646"/>
                </a:solidFill>
                <a:latin typeface="Inter Medium" pitchFamily="34" charset="0"/>
                <a:ea typeface="Inter Medium" pitchFamily="34" charset="-122"/>
                <a:cs typeface="Inter Medium" pitchFamily="34" charset="-120"/>
              </a:rPr>
              <a:t>Scapy</a:t>
            </a:r>
            <a:r>
              <a:rPr lang="en-US" sz="1450" dirty="0">
                <a:solidFill>
                  <a:srgbClr val="464646"/>
                </a:solidFill>
                <a:latin typeface="Inter Medium" pitchFamily="34" charset="0"/>
                <a:ea typeface="Inter Medium" pitchFamily="34" charset="-122"/>
                <a:cs typeface="Inter Medium" pitchFamily="34" charset="-120"/>
              </a:rPr>
              <a:t> – Packet capture and network analysis</a:t>
            </a:r>
            <a:endParaRPr lang="en-US" sz="1450" dirty="0"/>
          </a:p>
          <a:p>
            <a:pPr marL="342900" indent="-342900" algn="l">
              <a:lnSpc>
                <a:spcPts val="2150"/>
              </a:lnSpc>
              <a:buSzPct val="100000"/>
              <a:buChar char="•"/>
            </a:pPr>
            <a:r>
              <a:rPr lang="en-US" sz="1450" b="1" dirty="0">
                <a:solidFill>
                  <a:srgbClr val="464646"/>
                </a:solidFill>
                <a:latin typeface="Inter Medium" pitchFamily="34" charset="0"/>
                <a:ea typeface="Inter Medium" pitchFamily="34" charset="-122"/>
                <a:cs typeface="Inter Medium" pitchFamily="34" charset="-120"/>
              </a:rPr>
              <a:t>Requests</a:t>
            </a:r>
            <a:r>
              <a:rPr lang="en-US" sz="1450" dirty="0">
                <a:solidFill>
                  <a:srgbClr val="464646"/>
                </a:solidFill>
                <a:latin typeface="Inter Medium" pitchFamily="34" charset="0"/>
                <a:ea typeface="Inter Medium" pitchFamily="34" charset="-122"/>
                <a:cs typeface="Inter Medium" pitchFamily="34" charset="-120"/>
              </a:rPr>
              <a:t> – HTTP communication and URL validation</a:t>
            </a:r>
            <a:endParaRPr lang="en-US" sz="1450" dirty="0"/>
          </a:p>
          <a:p>
            <a:pPr marL="342900" indent="-342900" algn="l">
              <a:lnSpc>
                <a:spcPts val="2150"/>
              </a:lnSpc>
              <a:buSzPct val="100000"/>
              <a:buChar char="•"/>
            </a:pPr>
            <a:r>
              <a:rPr lang="en-US" sz="1450" b="1" dirty="0">
                <a:solidFill>
                  <a:srgbClr val="464646"/>
                </a:solidFill>
                <a:latin typeface="Inter Medium" pitchFamily="34" charset="0"/>
                <a:ea typeface="Inter Medium" pitchFamily="34" charset="-122"/>
                <a:cs typeface="Inter Medium" pitchFamily="34" charset="-120"/>
              </a:rPr>
              <a:t>Scikit-learn</a:t>
            </a:r>
            <a:r>
              <a:rPr lang="en-US" sz="1450" dirty="0">
                <a:solidFill>
                  <a:srgbClr val="464646"/>
                </a:solidFill>
                <a:latin typeface="Inter Medium" pitchFamily="34" charset="0"/>
                <a:ea typeface="Inter Medium" pitchFamily="34" charset="-122"/>
                <a:cs typeface="Inter Medium" pitchFamily="34" charset="-120"/>
              </a:rPr>
              <a:t> – Machine learning model training</a:t>
            </a:r>
            <a:endParaRPr lang="en-US" sz="1450" dirty="0"/>
          </a:p>
          <a:p>
            <a:pPr marL="342900" indent="-342900" algn="l">
              <a:lnSpc>
                <a:spcPts val="2150"/>
              </a:lnSpc>
              <a:buSzPct val="100000"/>
              <a:buChar char="•"/>
            </a:pPr>
            <a:r>
              <a:rPr lang="en-US" sz="1450" b="1" dirty="0">
                <a:solidFill>
                  <a:srgbClr val="464646"/>
                </a:solidFill>
                <a:latin typeface="Inter Medium" pitchFamily="34" charset="0"/>
                <a:ea typeface="Inter Medium" pitchFamily="34" charset="-122"/>
                <a:cs typeface="Inter Medium" pitchFamily="34" charset="-120"/>
              </a:rPr>
              <a:t>Joblib</a:t>
            </a:r>
            <a:r>
              <a:rPr lang="en-US" sz="1450" dirty="0">
                <a:solidFill>
                  <a:srgbClr val="464646"/>
                </a:solidFill>
                <a:latin typeface="Inter Medium" pitchFamily="34" charset="0"/>
                <a:ea typeface="Inter Medium" pitchFamily="34" charset="-122"/>
                <a:cs typeface="Inter Medium" pitchFamily="34" charset="-120"/>
              </a:rPr>
              <a:t> – Model serialisation and persistence</a:t>
            </a:r>
            <a:endParaRPr lang="en-US" sz="1450" dirty="0"/>
          </a:p>
        </p:txBody>
      </p:sp>
      <p:sp>
        <p:nvSpPr>
          <p:cNvPr id="8" name="Text 5"/>
          <p:cNvSpPr/>
          <p:nvPr/>
        </p:nvSpPr>
        <p:spPr>
          <a:xfrm>
            <a:off x="9577626" y="5722545"/>
            <a:ext cx="4262795" cy="831175"/>
          </a:xfrm>
          <a:prstGeom prst="rect">
            <a:avLst/>
          </a:prstGeom>
          <a:noFill/>
          <a:ln/>
        </p:spPr>
        <p:txBody>
          <a:bodyPr wrap="square" lIns="0" tIns="0" rIns="0" bIns="0" rtlCol="0" anchor="t"/>
          <a:lstStyle/>
          <a:p>
            <a:pPr marL="0" indent="0" algn="l">
              <a:lnSpc>
                <a:spcPts val="2150"/>
              </a:lnSpc>
              <a:buNone/>
            </a:pPr>
            <a:r>
              <a:rPr lang="en-US" sz="1450" b="1" dirty="0">
                <a:solidFill>
                  <a:srgbClr val="464646"/>
                </a:solidFill>
                <a:latin typeface="Inter Medium" pitchFamily="34" charset="0"/>
                <a:ea typeface="Inter Medium" pitchFamily="34" charset="-122"/>
                <a:cs typeface="Inter Medium" pitchFamily="34" charset="-120"/>
              </a:rPr>
              <a:t>Development Environment:</a:t>
            </a:r>
            <a:r>
              <a:rPr lang="en-US" sz="1450" dirty="0">
                <a:solidFill>
                  <a:srgbClr val="464646"/>
                </a:solidFill>
                <a:latin typeface="Inter Medium" pitchFamily="34" charset="0"/>
                <a:ea typeface="Inter Medium" pitchFamily="34" charset="-122"/>
                <a:cs typeface="Inter Medium" pitchFamily="34" charset="-120"/>
              </a:rPr>
              <a:t> VS Code, GitHub</a:t>
            </a:r>
            <a:endParaRPr lang="en-US" sz="1450" dirty="0"/>
          </a:p>
          <a:p>
            <a:pPr marL="0" indent="0" algn="l">
              <a:lnSpc>
                <a:spcPts val="2150"/>
              </a:lnSpc>
              <a:buNone/>
            </a:pPr>
            <a:r>
              <a:rPr lang="en-US" sz="1450" b="1" dirty="0">
                <a:solidFill>
                  <a:srgbClr val="464646"/>
                </a:solidFill>
                <a:latin typeface="Inter Medium" pitchFamily="34" charset="0"/>
                <a:ea typeface="Inter Medium" pitchFamily="34" charset="-122"/>
                <a:cs typeface="Inter Medium" pitchFamily="34" charset="-120"/>
              </a:rPr>
              <a:t>Operating Systems:</a:t>
            </a:r>
            <a:r>
              <a:rPr lang="en-US" sz="1450" dirty="0">
                <a:solidFill>
                  <a:srgbClr val="464646"/>
                </a:solidFill>
                <a:latin typeface="Inter Medium" pitchFamily="34" charset="0"/>
                <a:ea typeface="Inter Medium" pitchFamily="34" charset="-122"/>
                <a:cs typeface="Inter Medium" pitchFamily="34" charset="-120"/>
              </a:rPr>
              <a:t> Windows &amp; Linux compatible</a:t>
            </a:r>
            <a:endParaRPr lang="en-US" sz="1450" dirty="0"/>
          </a:p>
        </p:txBody>
      </p:sp>
      <p:sp>
        <p:nvSpPr>
          <p:cNvPr id="9" name="Rectangle 8">
            <a:extLst>
              <a:ext uri="{FF2B5EF4-FFF2-40B4-BE49-F238E27FC236}">
                <a16:creationId xmlns:a16="http://schemas.microsoft.com/office/drawing/2014/main" id="{A8AD26B2-D72C-9F44-AC93-46BAF2E0E359}"/>
              </a:ext>
            </a:extLst>
          </p:cNvPr>
          <p:cNvSpPr/>
          <p:nvPr/>
        </p:nvSpPr>
        <p:spPr>
          <a:xfrm>
            <a:off x="12820650" y="7724775"/>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91991" y="907018"/>
            <a:ext cx="1126808" cy="355402"/>
          </a:xfrm>
          <a:prstGeom prst="roundRect">
            <a:avLst>
              <a:gd name="adj" fmla="val 6676"/>
            </a:avLst>
          </a:prstGeom>
          <a:solidFill>
            <a:srgbClr val="D4F7EC"/>
          </a:solidFill>
          <a:ln/>
        </p:spPr>
      </p:sp>
      <p:sp>
        <p:nvSpPr>
          <p:cNvPr id="3" name="Text 1"/>
          <p:cNvSpPr/>
          <p:nvPr/>
        </p:nvSpPr>
        <p:spPr>
          <a:xfrm>
            <a:off x="810577" y="966311"/>
            <a:ext cx="889635" cy="236815"/>
          </a:xfrm>
          <a:prstGeom prst="rect">
            <a:avLst/>
          </a:prstGeom>
          <a:noFill/>
          <a:ln/>
        </p:spPr>
        <p:txBody>
          <a:bodyPr wrap="none" lIns="0" tIns="0" rIns="0" bIns="0" rtlCol="0" anchor="t"/>
          <a:lstStyle/>
          <a:p>
            <a:pPr marL="0" indent="0" algn="l">
              <a:lnSpc>
                <a:spcPts val="1850"/>
              </a:lnSpc>
              <a:buNone/>
            </a:pPr>
            <a:r>
              <a:rPr lang="en-US" sz="1200" dirty="0">
                <a:solidFill>
                  <a:srgbClr val="464646"/>
                </a:solidFill>
                <a:latin typeface="Inter Medium" pitchFamily="34" charset="0"/>
                <a:ea typeface="Inter Medium" pitchFamily="34" charset="-122"/>
                <a:cs typeface="Inter Medium" pitchFamily="34" charset="-120"/>
              </a:rPr>
              <a:t>CHAPTER 3</a:t>
            </a:r>
            <a:endParaRPr lang="en-US" sz="1200" dirty="0"/>
          </a:p>
        </p:txBody>
      </p:sp>
      <p:sp>
        <p:nvSpPr>
          <p:cNvPr id="4" name="Text 2"/>
          <p:cNvSpPr/>
          <p:nvPr/>
        </p:nvSpPr>
        <p:spPr>
          <a:xfrm>
            <a:off x="691991" y="1331357"/>
            <a:ext cx="8117800" cy="617934"/>
          </a:xfrm>
          <a:prstGeom prst="rect">
            <a:avLst/>
          </a:prstGeom>
          <a:noFill/>
          <a:ln/>
        </p:spPr>
        <p:txBody>
          <a:bodyPr wrap="none" lIns="0" tIns="0" rIns="0" bIns="0" rtlCol="0" anchor="t"/>
          <a:lstStyle/>
          <a:p>
            <a:pPr marL="0" indent="0" algn="l">
              <a:lnSpc>
                <a:spcPts val="4850"/>
              </a:lnSpc>
              <a:buNone/>
            </a:pPr>
            <a:r>
              <a:rPr lang="en-US" sz="3850" dirty="0">
                <a:solidFill>
                  <a:srgbClr val="030303"/>
                </a:solidFill>
                <a:latin typeface="DM Sans Semi Bold" pitchFamily="34" charset="0"/>
                <a:ea typeface="DM Sans Semi Bold" pitchFamily="34" charset="-122"/>
                <a:cs typeface="DM Sans Semi Bold" pitchFamily="34" charset="-120"/>
              </a:rPr>
              <a:t>Machine Learning Implementation</a:t>
            </a:r>
            <a:endParaRPr lang="en-US" sz="3850" dirty="0"/>
          </a:p>
        </p:txBody>
      </p:sp>
      <p:sp>
        <p:nvSpPr>
          <p:cNvPr id="5" name="Text 3"/>
          <p:cNvSpPr/>
          <p:nvPr/>
        </p:nvSpPr>
        <p:spPr>
          <a:xfrm>
            <a:off x="691991" y="2416254"/>
            <a:ext cx="2471380" cy="308967"/>
          </a:xfrm>
          <a:prstGeom prst="rect">
            <a:avLst/>
          </a:prstGeom>
          <a:noFill/>
          <a:ln/>
        </p:spPr>
        <p:txBody>
          <a:bodyPr wrap="none" lIns="0" tIns="0" rIns="0" bIns="0" rtlCol="0" anchor="t"/>
          <a:lstStyle/>
          <a:p>
            <a:pPr marL="0" indent="0" algn="l">
              <a:lnSpc>
                <a:spcPts val="2400"/>
              </a:lnSpc>
              <a:buNone/>
            </a:pPr>
            <a:r>
              <a:rPr lang="en-US" sz="1900" dirty="0">
                <a:solidFill>
                  <a:srgbClr val="030303"/>
                </a:solidFill>
                <a:latin typeface="DM Sans Semi Bold" pitchFamily="34" charset="0"/>
                <a:ea typeface="DM Sans Semi Bold" pitchFamily="34" charset="-122"/>
                <a:cs typeface="DM Sans Semi Bold" pitchFamily="34" charset="-120"/>
              </a:rPr>
              <a:t>Model Architecture</a:t>
            </a:r>
            <a:endParaRPr lang="en-US" sz="1900" dirty="0"/>
          </a:p>
        </p:txBody>
      </p:sp>
      <p:sp>
        <p:nvSpPr>
          <p:cNvPr id="6" name="Text 4"/>
          <p:cNvSpPr/>
          <p:nvPr/>
        </p:nvSpPr>
        <p:spPr>
          <a:xfrm>
            <a:off x="691991" y="2897505"/>
            <a:ext cx="4322802" cy="296108"/>
          </a:xfrm>
          <a:prstGeom prst="rect">
            <a:avLst/>
          </a:prstGeom>
          <a:noFill/>
          <a:ln/>
        </p:spPr>
        <p:txBody>
          <a:bodyPr wrap="none" lIns="0" tIns="0" rIns="0" bIns="0" rtlCol="0" anchor="t"/>
          <a:lstStyle/>
          <a:p>
            <a:pPr marL="0" indent="0" algn="l">
              <a:lnSpc>
                <a:spcPts val="2300"/>
              </a:lnSpc>
              <a:buNone/>
            </a:pPr>
            <a:r>
              <a:rPr lang="en-US" sz="1550" b="1" dirty="0">
                <a:solidFill>
                  <a:srgbClr val="464646"/>
                </a:solidFill>
                <a:latin typeface="Inter Medium" pitchFamily="34" charset="0"/>
                <a:ea typeface="Inter Medium" pitchFamily="34" charset="-122"/>
                <a:cs typeface="Inter Medium" pitchFamily="34" charset="-120"/>
              </a:rPr>
              <a:t>Algorithm:</a:t>
            </a:r>
            <a:r>
              <a:rPr lang="en-US" sz="1550" dirty="0">
                <a:solidFill>
                  <a:srgbClr val="464646"/>
                </a:solidFill>
                <a:latin typeface="Inter Medium" pitchFamily="34" charset="0"/>
                <a:ea typeface="Inter Medium" pitchFamily="34" charset="-122"/>
                <a:cs typeface="Inter Medium" pitchFamily="34" charset="-120"/>
              </a:rPr>
              <a:t> Random Forest Classifier</a:t>
            </a:r>
            <a:endParaRPr lang="en-US" sz="1550" dirty="0"/>
          </a:p>
        </p:txBody>
      </p:sp>
      <p:sp>
        <p:nvSpPr>
          <p:cNvPr id="7" name="Text 5"/>
          <p:cNvSpPr/>
          <p:nvPr/>
        </p:nvSpPr>
        <p:spPr>
          <a:xfrm>
            <a:off x="691991" y="3348633"/>
            <a:ext cx="4322802" cy="1184434"/>
          </a:xfrm>
          <a:prstGeom prst="rect">
            <a:avLst/>
          </a:prstGeom>
          <a:noFill/>
          <a:ln/>
        </p:spPr>
        <p:txBody>
          <a:bodyPr wrap="square" lIns="0" tIns="0" rIns="0" bIns="0" rtlCol="0" anchor="t"/>
          <a:lstStyle/>
          <a:p>
            <a:pPr marL="0" indent="0" algn="l">
              <a:lnSpc>
                <a:spcPts val="2300"/>
              </a:lnSpc>
              <a:buNone/>
            </a:pPr>
            <a:r>
              <a:rPr lang="en-US" sz="1550" b="1" dirty="0">
                <a:solidFill>
                  <a:srgbClr val="464646"/>
                </a:solidFill>
                <a:latin typeface="Inter Medium" pitchFamily="34" charset="0"/>
                <a:ea typeface="Inter Medium" pitchFamily="34" charset="-122"/>
                <a:cs typeface="Inter Medium" pitchFamily="34" charset="-120"/>
              </a:rPr>
              <a:t>Feature Engineering:</a:t>
            </a:r>
            <a:r>
              <a:rPr lang="en-US" sz="1550" dirty="0">
                <a:solidFill>
                  <a:srgbClr val="464646"/>
                </a:solidFill>
                <a:latin typeface="Inter Medium" pitchFamily="34" charset="0"/>
                <a:ea typeface="Inter Medium" pitchFamily="34" charset="-122"/>
                <a:cs typeface="Inter Medium" pitchFamily="34" charset="-120"/>
              </a:rPr>
              <a:t> URL lexical features including domain length, special character frequency, subdomain depth, and entropy measures</a:t>
            </a:r>
            <a:endParaRPr lang="en-US" sz="1550" dirty="0"/>
          </a:p>
        </p:txBody>
      </p:sp>
      <p:sp>
        <p:nvSpPr>
          <p:cNvPr id="8" name="Text 6"/>
          <p:cNvSpPr/>
          <p:nvPr/>
        </p:nvSpPr>
        <p:spPr>
          <a:xfrm>
            <a:off x="691991" y="4688086"/>
            <a:ext cx="4322802" cy="296108"/>
          </a:xfrm>
          <a:prstGeom prst="rect">
            <a:avLst/>
          </a:prstGeom>
          <a:noFill/>
          <a:ln/>
        </p:spPr>
        <p:txBody>
          <a:bodyPr wrap="none" lIns="0" tIns="0" rIns="0" bIns="0" rtlCol="0" anchor="t"/>
          <a:lstStyle/>
          <a:p>
            <a:pPr marL="0" indent="0" algn="l">
              <a:lnSpc>
                <a:spcPts val="2300"/>
              </a:lnSpc>
              <a:buNone/>
            </a:pPr>
            <a:r>
              <a:rPr lang="en-US" sz="1550" b="1" dirty="0">
                <a:solidFill>
                  <a:srgbClr val="464646"/>
                </a:solidFill>
                <a:latin typeface="Inter Medium" pitchFamily="34" charset="0"/>
                <a:ea typeface="Inter Medium" pitchFamily="34" charset="-122"/>
                <a:cs typeface="Inter Medium" pitchFamily="34" charset="-120"/>
              </a:rPr>
              <a:t>Training Labels:</a:t>
            </a:r>
            <a:endParaRPr lang="en-US" sz="1550" dirty="0"/>
          </a:p>
        </p:txBody>
      </p:sp>
      <p:sp>
        <p:nvSpPr>
          <p:cNvPr id="9" name="Text 7"/>
          <p:cNvSpPr/>
          <p:nvPr/>
        </p:nvSpPr>
        <p:spPr>
          <a:xfrm>
            <a:off x="691991" y="5139214"/>
            <a:ext cx="4322802" cy="592104"/>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464646"/>
                </a:solidFill>
                <a:latin typeface="Inter Medium" pitchFamily="34" charset="0"/>
                <a:ea typeface="Inter Medium" pitchFamily="34" charset="-122"/>
                <a:cs typeface="Inter Medium" pitchFamily="34" charset="-120"/>
              </a:rPr>
              <a:t>1 → Phishing URL</a:t>
            </a:r>
            <a:endParaRPr lang="en-US" sz="1550" dirty="0"/>
          </a:p>
          <a:p>
            <a:pPr marL="342900" indent="-342900" algn="l">
              <a:lnSpc>
                <a:spcPts val="2300"/>
              </a:lnSpc>
              <a:buSzPct val="100000"/>
              <a:buChar char="•"/>
            </a:pPr>
            <a:r>
              <a:rPr lang="en-US" sz="1550" dirty="0">
                <a:solidFill>
                  <a:srgbClr val="464646"/>
                </a:solidFill>
                <a:latin typeface="Inter Medium" pitchFamily="34" charset="0"/>
                <a:ea typeface="Inter Medium" pitchFamily="34" charset="-122"/>
                <a:cs typeface="Inter Medium" pitchFamily="34" charset="-120"/>
              </a:rPr>
              <a:t>0 → Legitimate URL</a:t>
            </a:r>
            <a:endParaRPr lang="en-US" sz="1550" dirty="0"/>
          </a:p>
        </p:txBody>
      </p:sp>
      <p:sp>
        <p:nvSpPr>
          <p:cNvPr id="10" name="Text 8"/>
          <p:cNvSpPr/>
          <p:nvPr/>
        </p:nvSpPr>
        <p:spPr>
          <a:xfrm>
            <a:off x="691991" y="5886338"/>
            <a:ext cx="4322802" cy="1184434"/>
          </a:xfrm>
          <a:prstGeom prst="rect">
            <a:avLst/>
          </a:prstGeom>
          <a:noFill/>
          <a:ln/>
        </p:spPr>
        <p:txBody>
          <a:bodyPr wrap="square" lIns="0" tIns="0" rIns="0" bIns="0" rtlCol="0" anchor="t"/>
          <a:lstStyle/>
          <a:p>
            <a:pPr marL="0" indent="0" algn="l">
              <a:lnSpc>
                <a:spcPts val="2300"/>
              </a:lnSpc>
              <a:buNone/>
            </a:pPr>
            <a:r>
              <a:rPr lang="en-US" sz="1550" b="1" dirty="0">
                <a:solidFill>
                  <a:srgbClr val="464646"/>
                </a:solidFill>
                <a:latin typeface="Inter Medium" pitchFamily="34" charset="0"/>
                <a:ea typeface="Inter Medium" pitchFamily="34" charset="-122"/>
                <a:cs typeface="Inter Medium" pitchFamily="34" charset="-120"/>
              </a:rPr>
              <a:t>Deployment:</a:t>
            </a:r>
            <a:r>
              <a:rPr lang="en-US" sz="1550" dirty="0">
                <a:solidFill>
                  <a:srgbClr val="464646"/>
                </a:solidFill>
                <a:latin typeface="Inter Medium" pitchFamily="34" charset="0"/>
                <a:ea typeface="Inter Medium" pitchFamily="34" charset="-122"/>
                <a:cs typeface="Inter Medium" pitchFamily="34" charset="-120"/>
              </a:rPr>
              <a:t> Model trained offline and serialised as .pkl files, then loaded dynamically during real-time detection for optimal performance.</a:t>
            </a:r>
            <a:endParaRPr lang="en-US" sz="1550" dirty="0"/>
          </a:p>
        </p:txBody>
      </p:sp>
      <p:pic>
        <p:nvPicPr>
          <p:cNvPr id="11" name="Image 0" descr="preencoded.png"/>
          <p:cNvPicPr>
            <a:picLocks noChangeAspect="1"/>
          </p:cNvPicPr>
          <p:nvPr/>
        </p:nvPicPr>
        <p:blipFill>
          <a:blip r:embed="rId3"/>
          <a:stretch>
            <a:fillRect/>
          </a:stretch>
        </p:blipFill>
        <p:spPr>
          <a:xfrm>
            <a:off x="5504617" y="2401610"/>
            <a:ext cx="8441293" cy="4301014"/>
          </a:xfrm>
          <a:prstGeom prst="rect">
            <a:avLst/>
          </a:prstGeom>
        </p:spPr>
      </p:pic>
      <p:sp>
        <p:nvSpPr>
          <p:cNvPr id="12" name="Shape 9"/>
          <p:cNvSpPr/>
          <p:nvPr/>
        </p:nvSpPr>
        <p:spPr>
          <a:xfrm>
            <a:off x="5504617" y="6672745"/>
            <a:ext cx="197644" cy="197644"/>
          </a:xfrm>
          <a:prstGeom prst="roundRect">
            <a:avLst>
              <a:gd name="adj" fmla="val 9253"/>
            </a:avLst>
          </a:prstGeom>
          <a:solidFill>
            <a:srgbClr val="0C4130"/>
          </a:solidFill>
          <a:ln/>
        </p:spPr>
      </p:sp>
      <p:sp>
        <p:nvSpPr>
          <p:cNvPr id="13" name="Text 10"/>
          <p:cNvSpPr/>
          <p:nvPr/>
        </p:nvSpPr>
        <p:spPr>
          <a:xfrm>
            <a:off x="5763220" y="6672745"/>
            <a:ext cx="1307663" cy="395526"/>
          </a:xfrm>
          <a:prstGeom prst="rect">
            <a:avLst/>
          </a:prstGeom>
          <a:noFill/>
          <a:ln/>
        </p:spPr>
        <p:txBody>
          <a:bodyPr wrap="square" lIns="0" tIns="0" rIns="0" bIns="0" rtlCol="0" anchor="t"/>
          <a:lstStyle/>
          <a:p>
            <a:pPr marL="0" indent="0" algn="l">
              <a:lnSpc>
                <a:spcPts val="1550"/>
              </a:lnSpc>
              <a:buNone/>
            </a:pPr>
            <a:r>
              <a:rPr lang="en-US" sz="1550" dirty="0">
                <a:solidFill>
                  <a:srgbClr val="464646"/>
                </a:solidFill>
                <a:latin typeface="Inter Medium" pitchFamily="34" charset="0"/>
                <a:ea typeface="Inter Medium" pitchFamily="34" charset="-122"/>
                <a:cs typeface="Inter Medium" pitchFamily="34" charset="-120"/>
              </a:rPr>
              <a:t>Domain Length</a:t>
            </a:r>
            <a:endParaRPr lang="en-US" sz="1550" dirty="0"/>
          </a:p>
        </p:txBody>
      </p:sp>
      <p:sp>
        <p:nvSpPr>
          <p:cNvPr id="14" name="Shape 11"/>
          <p:cNvSpPr/>
          <p:nvPr/>
        </p:nvSpPr>
        <p:spPr>
          <a:xfrm>
            <a:off x="7223284" y="6672745"/>
            <a:ext cx="197644" cy="197644"/>
          </a:xfrm>
          <a:prstGeom prst="roundRect">
            <a:avLst>
              <a:gd name="adj" fmla="val 9253"/>
            </a:avLst>
          </a:prstGeom>
          <a:solidFill>
            <a:srgbClr val="167859"/>
          </a:solidFill>
          <a:ln/>
        </p:spPr>
      </p:sp>
      <p:sp>
        <p:nvSpPr>
          <p:cNvPr id="15" name="Text 12"/>
          <p:cNvSpPr/>
          <p:nvPr/>
        </p:nvSpPr>
        <p:spPr>
          <a:xfrm>
            <a:off x="7481887" y="6672745"/>
            <a:ext cx="1303615" cy="197763"/>
          </a:xfrm>
          <a:prstGeom prst="rect">
            <a:avLst/>
          </a:prstGeom>
          <a:noFill/>
          <a:ln/>
        </p:spPr>
        <p:txBody>
          <a:bodyPr wrap="none" lIns="0" tIns="0" rIns="0" bIns="0" rtlCol="0" anchor="t"/>
          <a:lstStyle/>
          <a:p>
            <a:pPr marL="0" indent="0" algn="l">
              <a:lnSpc>
                <a:spcPts val="1550"/>
              </a:lnSpc>
              <a:buNone/>
            </a:pPr>
            <a:r>
              <a:rPr lang="en-US" sz="1550" dirty="0">
                <a:solidFill>
                  <a:srgbClr val="464646"/>
                </a:solidFill>
                <a:latin typeface="Inter Medium" pitchFamily="34" charset="0"/>
                <a:ea typeface="Inter Medium" pitchFamily="34" charset="-122"/>
                <a:cs typeface="Inter Medium" pitchFamily="34" charset="-120"/>
              </a:rPr>
              <a:t>Special Chars</a:t>
            </a:r>
            <a:endParaRPr lang="en-US" sz="1550" dirty="0"/>
          </a:p>
        </p:txBody>
      </p:sp>
      <p:sp>
        <p:nvSpPr>
          <p:cNvPr id="16" name="Shape 13"/>
          <p:cNvSpPr/>
          <p:nvPr/>
        </p:nvSpPr>
        <p:spPr>
          <a:xfrm>
            <a:off x="8942070" y="6672745"/>
            <a:ext cx="197644" cy="197644"/>
          </a:xfrm>
          <a:prstGeom prst="roundRect">
            <a:avLst>
              <a:gd name="adj" fmla="val 9253"/>
            </a:avLst>
          </a:prstGeom>
          <a:solidFill>
            <a:srgbClr val="21B083"/>
          </a:solidFill>
          <a:ln/>
        </p:spPr>
      </p:sp>
      <p:sp>
        <p:nvSpPr>
          <p:cNvPr id="17" name="Text 14"/>
          <p:cNvSpPr/>
          <p:nvPr/>
        </p:nvSpPr>
        <p:spPr>
          <a:xfrm>
            <a:off x="9200674" y="6672745"/>
            <a:ext cx="1307663" cy="395526"/>
          </a:xfrm>
          <a:prstGeom prst="rect">
            <a:avLst/>
          </a:prstGeom>
          <a:noFill/>
          <a:ln/>
        </p:spPr>
        <p:txBody>
          <a:bodyPr wrap="square" lIns="0" tIns="0" rIns="0" bIns="0" rtlCol="0" anchor="t"/>
          <a:lstStyle/>
          <a:p>
            <a:pPr marL="0" indent="0" algn="l">
              <a:lnSpc>
                <a:spcPts val="1550"/>
              </a:lnSpc>
              <a:buNone/>
            </a:pPr>
            <a:r>
              <a:rPr lang="en-US" sz="1550" dirty="0">
                <a:solidFill>
                  <a:srgbClr val="464646"/>
                </a:solidFill>
                <a:latin typeface="Inter Medium" pitchFamily="34" charset="0"/>
                <a:ea typeface="Inter Medium" pitchFamily="34" charset="-122"/>
                <a:cs typeface="Inter Medium" pitchFamily="34" charset="-120"/>
              </a:rPr>
              <a:t>Subdomain Depth</a:t>
            </a:r>
            <a:endParaRPr lang="en-US" sz="1550" dirty="0"/>
          </a:p>
        </p:txBody>
      </p:sp>
      <p:sp>
        <p:nvSpPr>
          <p:cNvPr id="18" name="Shape 15"/>
          <p:cNvSpPr/>
          <p:nvPr/>
        </p:nvSpPr>
        <p:spPr>
          <a:xfrm>
            <a:off x="10660737" y="6672745"/>
            <a:ext cx="197644" cy="197644"/>
          </a:xfrm>
          <a:prstGeom prst="roundRect">
            <a:avLst>
              <a:gd name="adj" fmla="val 9253"/>
            </a:avLst>
          </a:prstGeom>
          <a:solidFill>
            <a:srgbClr val="39DAA7"/>
          </a:solidFill>
          <a:ln/>
        </p:spPr>
      </p:sp>
      <p:sp>
        <p:nvSpPr>
          <p:cNvPr id="19" name="Text 16"/>
          <p:cNvSpPr/>
          <p:nvPr/>
        </p:nvSpPr>
        <p:spPr>
          <a:xfrm>
            <a:off x="10919341" y="6672745"/>
            <a:ext cx="729496" cy="197763"/>
          </a:xfrm>
          <a:prstGeom prst="rect">
            <a:avLst/>
          </a:prstGeom>
          <a:noFill/>
          <a:ln/>
        </p:spPr>
        <p:txBody>
          <a:bodyPr wrap="none" lIns="0" tIns="0" rIns="0" bIns="0" rtlCol="0" anchor="t"/>
          <a:lstStyle/>
          <a:p>
            <a:pPr marL="0" indent="0" algn="l">
              <a:lnSpc>
                <a:spcPts val="1550"/>
              </a:lnSpc>
              <a:buNone/>
            </a:pPr>
            <a:r>
              <a:rPr lang="en-US" sz="1550" dirty="0">
                <a:solidFill>
                  <a:srgbClr val="464646"/>
                </a:solidFill>
                <a:latin typeface="Inter Medium" pitchFamily="34" charset="0"/>
                <a:ea typeface="Inter Medium" pitchFamily="34" charset="-122"/>
                <a:cs typeface="Inter Medium" pitchFamily="34" charset="-120"/>
              </a:rPr>
              <a:t>Entropy</a:t>
            </a:r>
            <a:endParaRPr lang="en-US" sz="1550" dirty="0"/>
          </a:p>
        </p:txBody>
      </p:sp>
      <p:sp>
        <p:nvSpPr>
          <p:cNvPr id="20" name="Shape 17"/>
          <p:cNvSpPr/>
          <p:nvPr/>
        </p:nvSpPr>
        <p:spPr>
          <a:xfrm>
            <a:off x="12379523" y="6672745"/>
            <a:ext cx="197644" cy="197644"/>
          </a:xfrm>
          <a:prstGeom prst="roundRect">
            <a:avLst>
              <a:gd name="adj" fmla="val 9253"/>
            </a:avLst>
          </a:prstGeom>
          <a:solidFill>
            <a:srgbClr val="71E5C0"/>
          </a:solidFill>
          <a:ln/>
        </p:spPr>
      </p:sp>
      <p:sp>
        <p:nvSpPr>
          <p:cNvPr id="21" name="Text 18"/>
          <p:cNvSpPr/>
          <p:nvPr/>
        </p:nvSpPr>
        <p:spPr>
          <a:xfrm>
            <a:off x="12638127" y="6672745"/>
            <a:ext cx="1307663" cy="395526"/>
          </a:xfrm>
          <a:prstGeom prst="rect">
            <a:avLst/>
          </a:prstGeom>
          <a:noFill/>
          <a:ln/>
        </p:spPr>
        <p:txBody>
          <a:bodyPr wrap="square" lIns="0" tIns="0" rIns="0" bIns="0" rtlCol="0" anchor="t"/>
          <a:lstStyle/>
          <a:p>
            <a:pPr marL="0" indent="0" algn="l">
              <a:lnSpc>
                <a:spcPts val="1550"/>
              </a:lnSpc>
              <a:buNone/>
            </a:pPr>
            <a:r>
              <a:rPr lang="en-US" sz="1550" dirty="0">
                <a:solidFill>
                  <a:srgbClr val="464646"/>
                </a:solidFill>
                <a:latin typeface="Inter Medium" pitchFamily="34" charset="0"/>
                <a:ea typeface="Inter Medium" pitchFamily="34" charset="-122"/>
                <a:cs typeface="Inter Medium" pitchFamily="34" charset="-120"/>
              </a:rPr>
              <a:t>Other Features</a:t>
            </a:r>
            <a:endParaRPr lang="en-US" sz="1550" dirty="0"/>
          </a:p>
        </p:txBody>
      </p:sp>
      <p:sp>
        <p:nvSpPr>
          <p:cNvPr id="22" name="Rectangle 21">
            <a:extLst>
              <a:ext uri="{FF2B5EF4-FFF2-40B4-BE49-F238E27FC236}">
                <a16:creationId xmlns:a16="http://schemas.microsoft.com/office/drawing/2014/main" id="{087A6F19-9F46-D994-2623-FF4D0996D17A}"/>
              </a:ext>
            </a:extLst>
          </p:cNvPr>
          <p:cNvSpPr/>
          <p:nvPr/>
        </p:nvSpPr>
        <p:spPr>
          <a:xfrm>
            <a:off x="12820650" y="7724775"/>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70334" y="649248"/>
            <a:ext cx="5819894" cy="687824"/>
          </a:xfrm>
          <a:prstGeom prst="rect">
            <a:avLst/>
          </a:prstGeom>
          <a:noFill/>
          <a:ln/>
        </p:spPr>
        <p:txBody>
          <a:bodyPr wrap="none" lIns="0" tIns="0" rIns="0" bIns="0" rtlCol="0" anchor="t"/>
          <a:lstStyle/>
          <a:p>
            <a:pPr marL="0" indent="0" algn="l">
              <a:lnSpc>
                <a:spcPts val="5400"/>
              </a:lnSpc>
              <a:buNone/>
            </a:pPr>
            <a:r>
              <a:rPr lang="en-US" sz="4300" dirty="0">
                <a:solidFill>
                  <a:srgbClr val="030303"/>
                </a:solidFill>
                <a:latin typeface="DM Sans Semi Bold" pitchFamily="34" charset="0"/>
                <a:ea typeface="DM Sans Semi Bold" pitchFamily="34" charset="-122"/>
                <a:cs typeface="DM Sans Semi Bold" pitchFamily="34" charset="-120"/>
              </a:rPr>
              <a:t>System Requirements</a:t>
            </a:r>
            <a:endParaRPr lang="en-US" sz="4300" dirty="0"/>
          </a:p>
        </p:txBody>
      </p:sp>
      <p:sp>
        <p:nvSpPr>
          <p:cNvPr id="3" name="Shape 1"/>
          <p:cNvSpPr/>
          <p:nvPr/>
        </p:nvSpPr>
        <p:spPr>
          <a:xfrm>
            <a:off x="770334" y="4410884"/>
            <a:ext cx="13089731" cy="30480"/>
          </a:xfrm>
          <a:prstGeom prst="roundRect">
            <a:avLst>
              <a:gd name="adj" fmla="val 108318"/>
            </a:avLst>
          </a:prstGeom>
          <a:solidFill>
            <a:srgbClr val="D8D4D4"/>
          </a:solidFill>
          <a:ln/>
        </p:spPr>
      </p:sp>
      <p:sp>
        <p:nvSpPr>
          <p:cNvPr id="4" name="Shape 2"/>
          <p:cNvSpPr/>
          <p:nvPr/>
        </p:nvSpPr>
        <p:spPr>
          <a:xfrm>
            <a:off x="770334" y="1764149"/>
            <a:ext cx="6411397" cy="2870716"/>
          </a:xfrm>
          <a:prstGeom prst="roundRect">
            <a:avLst>
              <a:gd name="adj" fmla="val 1150"/>
            </a:avLst>
          </a:prstGeom>
          <a:solidFill>
            <a:srgbClr val="F2EEEE"/>
          </a:solidFill>
          <a:ln/>
        </p:spPr>
      </p:sp>
      <p:sp>
        <p:nvSpPr>
          <p:cNvPr id="5" name="Text 3"/>
          <p:cNvSpPr/>
          <p:nvPr/>
        </p:nvSpPr>
        <p:spPr>
          <a:xfrm>
            <a:off x="2355294" y="1984177"/>
            <a:ext cx="3241358" cy="343853"/>
          </a:xfrm>
          <a:prstGeom prst="rect">
            <a:avLst/>
          </a:prstGeom>
          <a:noFill/>
          <a:ln/>
        </p:spPr>
        <p:txBody>
          <a:bodyPr wrap="none" lIns="0" tIns="0" rIns="0" bIns="0" rtlCol="0" anchor="t"/>
          <a:lstStyle/>
          <a:p>
            <a:pPr marL="0" indent="0" algn="ctr">
              <a:lnSpc>
                <a:spcPts val="2700"/>
              </a:lnSpc>
              <a:buNone/>
            </a:pPr>
            <a:r>
              <a:rPr lang="en-US" sz="2150" dirty="0">
                <a:solidFill>
                  <a:srgbClr val="464646"/>
                </a:solidFill>
                <a:latin typeface="DM Sans Semi Bold" pitchFamily="34" charset="0"/>
                <a:ea typeface="DM Sans Semi Bold" pitchFamily="34" charset="-122"/>
                <a:cs typeface="DM Sans Semi Bold" pitchFamily="34" charset="-120"/>
              </a:rPr>
              <a:t>Hardware Specifications</a:t>
            </a:r>
            <a:endParaRPr lang="en-US" sz="2150" dirty="0"/>
          </a:p>
        </p:txBody>
      </p:sp>
      <p:sp>
        <p:nvSpPr>
          <p:cNvPr id="6" name="Text 4"/>
          <p:cNvSpPr/>
          <p:nvPr/>
        </p:nvSpPr>
        <p:spPr>
          <a:xfrm>
            <a:off x="990362" y="2456140"/>
            <a:ext cx="5971342" cy="1734716"/>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464646"/>
                </a:solidFill>
                <a:latin typeface="Inter Medium" pitchFamily="34" charset="0"/>
                <a:ea typeface="Inter Medium" pitchFamily="34" charset="-122"/>
                <a:cs typeface="Inter Medium" pitchFamily="34" charset="-120"/>
              </a:rPr>
              <a:t>Processor:</a:t>
            </a:r>
            <a:r>
              <a:rPr lang="en-US" sz="1700" dirty="0">
                <a:solidFill>
                  <a:srgbClr val="464646"/>
                </a:solidFill>
                <a:latin typeface="Inter Medium" pitchFamily="34" charset="0"/>
                <a:ea typeface="Inter Medium" pitchFamily="34" charset="-122"/>
                <a:cs typeface="Inter Medium" pitchFamily="34" charset="-120"/>
              </a:rPr>
              <a:t> Intel i3 or equivalent (higher recommended)</a:t>
            </a:r>
            <a:endParaRPr lang="en-US" sz="1700" dirty="0"/>
          </a:p>
          <a:p>
            <a:pPr marL="342900" indent="-342900" algn="l">
              <a:lnSpc>
                <a:spcPts val="2700"/>
              </a:lnSpc>
              <a:buSzPct val="100000"/>
              <a:buChar char="•"/>
            </a:pPr>
            <a:r>
              <a:rPr lang="en-US" sz="1700" b="1" dirty="0">
                <a:solidFill>
                  <a:srgbClr val="464646"/>
                </a:solidFill>
                <a:latin typeface="Inter Medium" pitchFamily="34" charset="0"/>
                <a:ea typeface="Inter Medium" pitchFamily="34" charset="-122"/>
                <a:cs typeface="Inter Medium" pitchFamily="34" charset="-120"/>
              </a:rPr>
              <a:t>Memory:</a:t>
            </a:r>
            <a:r>
              <a:rPr lang="en-US" sz="1700" dirty="0">
                <a:solidFill>
                  <a:srgbClr val="464646"/>
                </a:solidFill>
                <a:latin typeface="Inter Medium" pitchFamily="34" charset="0"/>
                <a:ea typeface="Inter Medium" pitchFamily="34" charset="-122"/>
                <a:cs typeface="Inter Medium" pitchFamily="34" charset="-120"/>
              </a:rPr>
              <a:t> Minimum 4 GB RAM</a:t>
            </a:r>
            <a:endParaRPr lang="en-US" sz="1700" dirty="0"/>
          </a:p>
          <a:p>
            <a:pPr marL="342900" indent="-342900" algn="l">
              <a:lnSpc>
                <a:spcPts val="2700"/>
              </a:lnSpc>
              <a:buSzPct val="100000"/>
              <a:buChar char="•"/>
            </a:pPr>
            <a:r>
              <a:rPr lang="en-US" sz="1700" b="1" dirty="0">
                <a:solidFill>
                  <a:srgbClr val="464646"/>
                </a:solidFill>
                <a:latin typeface="Inter Medium" pitchFamily="34" charset="0"/>
                <a:ea typeface="Inter Medium" pitchFamily="34" charset="-122"/>
                <a:cs typeface="Inter Medium" pitchFamily="34" charset="-120"/>
              </a:rPr>
              <a:t>Storage:</a:t>
            </a:r>
            <a:r>
              <a:rPr lang="en-US" sz="1700" dirty="0">
                <a:solidFill>
                  <a:srgbClr val="464646"/>
                </a:solidFill>
                <a:latin typeface="Inter Medium" pitchFamily="34" charset="0"/>
                <a:ea typeface="Inter Medium" pitchFamily="34" charset="-122"/>
                <a:cs typeface="Inter Medium" pitchFamily="34" charset="-120"/>
              </a:rPr>
              <a:t> 10 GB available space</a:t>
            </a:r>
            <a:endParaRPr lang="en-US" sz="1700" dirty="0"/>
          </a:p>
          <a:p>
            <a:pPr marL="342900" indent="-342900" algn="l">
              <a:lnSpc>
                <a:spcPts val="2700"/>
              </a:lnSpc>
              <a:buSzPct val="100000"/>
              <a:buChar char="•"/>
            </a:pPr>
            <a:r>
              <a:rPr lang="en-US" sz="1700" b="1" dirty="0">
                <a:solidFill>
                  <a:srgbClr val="464646"/>
                </a:solidFill>
                <a:latin typeface="Inter Medium" pitchFamily="34" charset="0"/>
                <a:ea typeface="Inter Medium" pitchFamily="34" charset="-122"/>
                <a:cs typeface="Inter Medium" pitchFamily="34" charset="-120"/>
              </a:rPr>
              <a:t>Network:</a:t>
            </a:r>
            <a:r>
              <a:rPr lang="en-US" sz="1700" dirty="0">
                <a:solidFill>
                  <a:srgbClr val="464646"/>
                </a:solidFill>
                <a:latin typeface="Inter Medium" pitchFamily="34" charset="0"/>
                <a:ea typeface="Inter Medium" pitchFamily="34" charset="-122"/>
                <a:cs typeface="Inter Medium" pitchFamily="34" charset="-120"/>
              </a:rPr>
              <a:t> Active network interface card</a:t>
            </a:r>
            <a:endParaRPr lang="en-US" sz="1700" dirty="0"/>
          </a:p>
        </p:txBody>
      </p:sp>
      <p:sp>
        <p:nvSpPr>
          <p:cNvPr id="7" name="Shape 5"/>
          <p:cNvSpPr/>
          <p:nvPr/>
        </p:nvSpPr>
        <p:spPr>
          <a:xfrm>
            <a:off x="7448669" y="4441364"/>
            <a:ext cx="6411397" cy="2945368"/>
          </a:xfrm>
          <a:prstGeom prst="rect">
            <a:avLst/>
          </a:prstGeom>
          <a:solidFill>
            <a:srgbClr val="F2EEEE"/>
          </a:solidFill>
          <a:ln/>
        </p:spPr>
      </p:sp>
      <p:sp>
        <p:nvSpPr>
          <p:cNvPr id="8" name="Text 6"/>
          <p:cNvSpPr/>
          <p:nvPr/>
        </p:nvSpPr>
        <p:spPr>
          <a:xfrm>
            <a:off x="9100423" y="4661391"/>
            <a:ext cx="3107888" cy="343853"/>
          </a:xfrm>
          <a:prstGeom prst="rect">
            <a:avLst/>
          </a:prstGeom>
          <a:noFill/>
          <a:ln/>
        </p:spPr>
        <p:txBody>
          <a:bodyPr wrap="none" lIns="0" tIns="0" rIns="0" bIns="0" rtlCol="0" anchor="t"/>
          <a:lstStyle/>
          <a:p>
            <a:pPr marL="0" indent="0" algn="ctr">
              <a:lnSpc>
                <a:spcPts val="2700"/>
              </a:lnSpc>
              <a:buNone/>
            </a:pPr>
            <a:r>
              <a:rPr lang="en-US" sz="2150" dirty="0">
                <a:solidFill>
                  <a:srgbClr val="464646"/>
                </a:solidFill>
                <a:latin typeface="DM Sans Semi Bold" pitchFamily="34" charset="0"/>
                <a:ea typeface="DM Sans Semi Bold" pitchFamily="34" charset="-122"/>
                <a:cs typeface="DM Sans Semi Bold" pitchFamily="34" charset="-120"/>
              </a:rPr>
              <a:t>Software Requirements</a:t>
            </a:r>
            <a:endParaRPr lang="en-US" sz="2150" dirty="0"/>
          </a:p>
        </p:txBody>
      </p:sp>
      <p:sp>
        <p:nvSpPr>
          <p:cNvPr id="9" name="Text 7"/>
          <p:cNvSpPr/>
          <p:nvPr/>
        </p:nvSpPr>
        <p:spPr>
          <a:xfrm>
            <a:off x="7668697" y="5133355"/>
            <a:ext cx="5971342" cy="1734716"/>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464646"/>
                </a:solidFill>
                <a:latin typeface="Inter Medium" pitchFamily="34" charset="0"/>
                <a:ea typeface="Inter Medium" pitchFamily="34" charset="-122"/>
                <a:cs typeface="Inter Medium" pitchFamily="34" charset="-120"/>
              </a:rPr>
              <a:t>OS:</a:t>
            </a:r>
            <a:r>
              <a:rPr lang="en-US" sz="1700" dirty="0">
                <a:solidFill>
                  <a:srgbClr val="464646"/>
                </a:solidFill>
                <a:latin typeface="Inter Medium" pitchFamily="34" charset="0"/>
                <a:ea typeface="Inter Medium" pitchFamily="34" charset="-122"/>
                <a:cs typeface="Inter Medium" pitchFamily="34" charset="-120"/>
              </a:rPr>
              <a:t> Windows 10/11 or Linux distributions</a:t>
            </a:r>
            <a:endParaRPr lang="en-US" sz="1700" dirty="0"/>
          </a:p>
          <a:p>
            <a:pPr marL="342900" indent="-342900" algn="l">
              <a:lnSpc>
                <a:spcPts val="2700"/>
              </a:lnSpc>
              <a:buSzPct val="100000"/>
              <a:buChar char="•"/>
            </a:pPr>
            <a:r>
              <a:rPr lang="en-US" sz="1700" b="1" dirty="0">
                <a:solidFill>
                  <a:srgbClr val="464646"/>
                </a:solidFill>
                <a:latin typeface="Inter Medium" pitchFamily="34" charset="0"/>
                <a:ea typeface="Inter Medium" pitchFamily="34" charset="-122"/>
                <a:cs typeface="Inter Medium" pitchFamily="34" charset="-120"/>
              </a:rPr>
              <a:t>Python:</a:t>
            </a:r>
            <a:r>
              <a:rPr lang="en-US" sz="1700" dirty="0">
                <a:solidFill>
                  <a:srgbClr val="464646"/>
                </a:solidFill>
                <a:latin typeface="Inter Medium" pitchFamily="34" charset="0"/>
                <a:ea typeface="Inter Medium" pitchFamily="34" charset="-122"/>
                <a:cs typeface="Inter Medium" pitchFamily="34" charset="-120"/>
              </a:rPr>
              <a:t> Version 3.8 or higher</a:t>
            </a:r>
            <a:endParaRPr lang="en-US" sz="1700" dirty="0"/>
          </a:p>
          <a:p>
            <a:pPr marL="342900" indent="-342900" algn="l">
              <a:lnSpc>
                <a:spcPts val="2700"/>
              </a:lnSpc>
              <a:buSzPct val="100000"/>
              <a:buChar char="•"/>
            </a:pPr>
            <a:r>
              <a:rPr lang="en-US" sz="1700" b="1" dirty="0">
                <a:solidFill>
                  <a:srgbClr val="464646"/>
                </a:solidFill>
                <a:latin typeface="Inter Medium" pitchFamily="34" charset="0"/>
                <a:ea typeface="Inter Medium" pitchFamily="34" charset="-122"/>
                <a:cs typeface="Inter Medium" pitchFamily="34" charset="-120"/>
              </a:rPr>
              <a:t>IDE:</a:t>
            </a:r>
            <a:r>
              <a:rPr lang="en-US" sz="1700" dirty="0">
                <a:solidFill>
                  <a:srgbClr val="464646"/>
                </a:solidFill>
                <a:latin typeface="Inter Medium" pitchFamily="34" charset="0"/>
                <a:ea typeface="Inter Medium" pitchFamily="34" charset="-122"/>
                <a:cs typeface="Inter Medium" pitchFamily="34" charset="-120"/>
              </a:rPr>
              <a:t> Visual Studio Code</a:t>
            </a:r>
            <a:endParaRPr lang="en-US" sz="1700" dirty="0"/>
          </a:p>
          <a:p>
            <a:pPr marL="342900" indent="-342900" algn="l">
              <a:lnSpc>
                <a:spcPts val="2700"/>
              </a:lnSpc>
              <a:buSzPct val="100000"/>
              <a:buChar char="•"/>
            </a:pPr>
            <a:r>
              <a:rPr lang="en-US" sz="1700" b="1" dirty="0">
                <a:solidFill>
                  <a:srgbClr val="464646"/>
                </a:solidFill>
                <a:latin typeface="Inter Medium" pitchFamily="34" charset="0"/>
                <a:ea typeface="Inter Medium" pitchFamily="34" charset="-122"/>
                <a:cs typeface="Inter Medium" pitchFamily="34" charset="-120"/>
              </a:rPr>
              <a:t>Version Control:</a:t>
            </a:r>
            <a:r>
              <a:rPr lang="en-US" sz="1700" dirty="0">
                <a:solidFill>
                  <a:srgbClr val="464646"/>
                </a:solidFill>
                <a:latin typeface="Inter Medium" pitchFamily="34" charset="0"/>
                <a:ea typeface="Inter Medium" pitchFamily="34" charset="-122"/>
                <a:cs typeface="Inter Medium" pitchFamily="34" charset="-120"/>
              </a:rPr>
              <a:t> Git/GitHub</a:t>
            </a:r>
            <a:endParaRPr lang="en-US" sz="1700" dirty="0"/>
          </a:p>
          <a:p>
            <a:pPr marL="342900" indent="-342900" algn="l">
              <a:lnSpc>
                <a:spcPts val="2700"/>
              </a:lnSpc>
              <a:buSzPct val="100000"/>
              <a:buChar char="•"/>
            </a:pPr>
            <a:r>
              <a:rPr lang="en-US" sz="1700" b="1" dirty="0">
                <a:solidFill>
                  <a:srgbClr val="464646"/>
                </a:solidFill>
                <a:latin typeface="Inter Medium" pitchFamily="34" charset="0"/>
                <a:ea typeface="Inter Medium" pitchFamily="34" charset="-122"/>
                <a:cs typeface="Inter Medium" pitchFamily="34" charset="-120"/>
              </a:rPr>
              <a:t>Libraries:</a:t>
            </a:r>
            <a:r>
              <a:rPr lang="en-US" sz="1700" dirty="0">
                <a:solidFill>
                  <a:srgbClr val="464646"/>
                </a:solidFill>
                <a:latin typeface="Inter Medium" pitchFamily="34" charset="0"/>
                <a:ea typeface="Inter Medium" pitchFamily="34" charset="-122"/>
                <a:cs typeface="Inter Medium" pitchFamily="34" charset="-120"/>
              </a:rPr>
              <a:t> Scapy, Scikit-learn, Requests, Joblib</a:t>
            </a:r>
            <a:endParaRPr lang="en-US" sz="1700" dirty="0"/>
          </a:p>
        </p:txBody>
      </p:sp>
      <p:sp>
        <p:nvSpPr>
          <p:cNvPr id="10" name="Rectangle 9">
            <a:extLst>
              <a:ext uri="{FF2B5EF4-FFF2-40B4-BE49-F238E27FC236}">
                <a16:creationId xmlns:a16="http://schemas.microsoft.com/office/drawing/2014/main" id="{EF2D0650-F8ED-65FA-0B76-AC7AE7709377}"/>
              </a:ext>
            </a:extLst>
          </p:cNvPr>
          <p:cNvSpPr/>
          <p:nvPr/>
        </p:nvSpPr>
        <p:spPr>
          <a:xfrm>
            <a:off x="12820650" y="7724775"/>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1276" y="1149548"/>
            <a:ext cx="8631198" cy="600908"/>
          </a:xfrm>
          <a:prstGeom prst="rect">
            <a:avLst/>
          </a:prstGeom>
          <a:noFill/>
          <a:ln/>
        </p:spPr>
        <p:txBody>
          <a:bodyPr wrap="none" lIns="0" tIns="0" rIns="0" bIns="0" rtlCol="0" anchor="t"/>
          <a:lstStyle/>
          <a:p>
            <a:pPr marL="0" indent="0" algn="l">
              <a:lnSpc>
                <a:spcPts val="4700"/>
              </a:lnSpc>
              <a:buNone/>
            </a:pPr>
            <a:r>
              <a:rPr lang="en-US" sz="3750" dirty="0">
                <a:solidFill>
                  <a:srgbClr val="030303"/>
                </a:solidFill>
                <a:latin typeface="DM Sans Semi Bold" pitchFamily="34" charset="0"/>
                <a:ea typeface="DM Sans Semi Bold" pitchFamily="34" charset="-122"/>
                <a:cs typeface="DM Sans Semi Bold" pitchFamily="34" charset="-120"/>
              </a:rPr>
              <a:t>Project Outcomes &amp; Future Roadmap</a:t>
            </a:r>
            <a:endParaRPr lang="en-US" sz="3750" dirty="0"/>
          </a:p>
        </p:txBody>
      </p:sp>
      <p:sp>
        <p:nvSpPr>
          <p:cNvPr id="3" name="Text 1"/>
          <p:cNvSpPr/>
          <p:nvPr/>
        </p:nvSpPr>
        <p:spPr>
          <a:xfrm>
            <a:off x="681276" y="2157889"/>
            <a:ext cx="3103483" cy="360521"/>
          </a:xfrm>
          <a:prstGeom prst="rect">
            <a:avLst/>
          </a:prstGeom>
          <a:noFill/>
          <a:ln/>
        </p:spPr>
        <p:txBody>
          <a:bodyPr wrap="none" lIns="0" tIns="0" rIns="0" bIns="0" rtlCol="0" anchor="t"/>
          <a:lstStyle/>
          <a:p>
            <a:pPr marL="0" indent="0" algn="l">
              <a:lnSpc>
                <a:spcPts val="2800"/>
              </a:lnSpc>
              <a:buNone/>
            </a:pPr>
            <a:r>
              <a:rPr lang="en-US" sz="2250" dirty="0">
                <a:solidFill>
                  <a:srgbClr val="030303"/>
                </a:solidFill>
                <a:latin typeface="DM Sans Semi Bold" pitchFamily="34" charset="0"/>
                <a:ea typeface="DM Sans Semi Bold" pitchFamily="34" charset="-122"/>
                <a:cs typeface="DM Sans Semi Bold" pitchFamily="34" charset="-120"/>
              </a:rPr>
              <a:t>Expected Deliverables</a:t>
            </a:r>
            <a:endParaRPr lang="en-US" sz="2250" dirty="0"/>
          </a:p>
        </p:txBody>
      </p:sp>
      <p:sp>
        <p:nvSpPr>
          <p:cNvPr id="4" name="Shape 2"/>
          <p:cNvSpPr/>
          <p:nvPr/>
        </p:nvSpPr>
        <p:spPr>
          <a:xfrm>
            <a:off x="681276" y="2990136"/>
            <a:ext cx="3118128" cy="1727597"/>
          </a:xfrm>
          <a:prstGeom prst="roundRect">
            <a:avLst>
              <a:gd name="adj" fmla="val 6351"/>
            </a:avLst>
          </a:prstGeom>
          <a:solidFill>
            <a:srgbClr val="FFFFFF"/>
          </a:solidFill>
          <a:ln/>
        </p:spPr>
      </p:sp>
      <p:sp>
        <p:nvSpPr>
          <p:cNvPr id="5" name="Shape 3"/>
          <p:cNvSpPr/>
          <p:nvPr/>
        </p:nvSpPr>
        <p:spPr>
          <a:xfrm>
            <a:off x="681276" y="2967276"/>
            <a:ext cx="3118128" cy="91440"/>
          </a:xfrm>
          <a:prstGeom prst="roundRect">
            <a:avLst>
              <a:gd name="adj" fmla="val 31543"/>
            </a:avLst>
          </a:prstGeom>
          <a:solidFill>
            <a:srgbClr val="1C9770"/>
          </a:solidFill>
          <a:ln/>
        </p:spPr>
      </p:sp>
      <p:sp>
        <p:nvSpPr>
          <p:cNvPr id="6" name="Shape 4"/>
          <p:cNvSpPr/>
          <p:nvPr/>
        </p:nvSpPr>
        <p:spPr>
          <a:xfrm>
            <a:off x="1951851" y="2701766"/>
            <a:ext cx="576858" cy="576858"/>
          </a:xfrm>
          <a:prstGeom prst="roundRect">
            <a:avLst>
              <a:gd name="adj" fmla="val 158514"/>
            </a:avLst>
          </a:prstGeom>
          <a:solidFill>
            <a:srgbClr val="1C9770"/>
          </a:solidFill>
          <a:ln/>
        </p:spPr>
      </p:sp>
      <p:sp>
        <p:nvSpPr>
          <p:cNvPr id="7" name="Text 5"/>
          <p:cNvSpPr/>
          <p:nvPr/>
        </p:nvSpPr>
        <p:spPr>
          <a:xfrm>
            <a:off x="2124849" y="2845951"/>
            <a:ext cx="230743" cy="288369"/>
          </a:xfrm>
          <a:prstGeom prst="rect">
            <a:avLst/>
          </a:prstGeom>
          <a:noFill/>
          <a:ln/>
        </p:spPr>
        <p:txBody>
          <a:bodyPr wrap="none" lIns="0" tIns="0" rIns="0" bIns="0" rtlCol="0" anchor="t"/>
          <a:lstStyle/>
          <a:p>
            <a:pPr marL="0" indent="0" algn="l">
              <a:lnSpc>
                <a:spcPts val="2650"/>
              </a:lnSpc>
              <a:buNone/>
            </a:pPr>
            <a:r>
              <a:rPr lang="en-US" sz="1800" dirty="0">
                <a:solidFill>
                  <a:srgbClr val="FFFFFF"/>
                </a:solidFill>
                <a:latin typeface="DM Sans Semi Bold" pitchFamily="34" charset="0"/>
                <a:ea typeface="DM Sans Semi Bold" pitchFamily="34" charset="-122"/>
                <a:cs typeface="DM Sans Semi Bold" pitchFamily="34" charset="-120"/>
              </a:rPr>
              <a:t>1</a:t>
            </a:r>
            <a:endParaRPr lang="en-US" sz="1800" dirty="0"/>
          </a:p>
        </p:txBody>
      </p:sp>
      <p:sp>
        <p:nvSpPr>
          <p:cNvPr id="8" name="Text 6"/>
          <p:cNvSpPr/>
          <p:nvPr/>
        </p:nvSpPr>
        <p:spPr>
          <a:xfrm>
            <a:off x="896422" y="3470791"/>
            <a:ext cx="2403515" cy="300395"/>
          </a:xfrm>
          <a:prstGeom prst="rect">
            <a:avLst/>
          </a:prstGeom>
          <a:noFill/>
          <a:ln/>
        </p:spPr>
        <p:txBody>
          <a:bodyPr wrap="none" lIns="0" tIns="0" rIns="0" bIns="0" rtlCol="0" anchor="t"/>
          <a:lstStyle/>
          <a:p>
            <a:pPr marL="0" indent="0" algn="l">
              <a:lnSpc>
                <a:spcPts val="2350"/>
              </a:lnSpc>
              <a:buNone/>
            </a:pPr>
            <a:r>
              <a:rPr lang="en-US" sz="1850" dirty="0">
                <a:solidFill>
                  <a:srgbClr val="464646"/>
                </a:solidFill>
                <a:latin typeface="DM Sans Semi Bold" pitchFamily="34" charset="0"/>
                <a:ea typeface="DM Sans Semi Bold" pitchFamily="34" charset="-122"/>
                <a:cs typeface="DM Sans Semi Bold" pitchFamily="34" charset="-120"/>
              </a:rPr>
              <a:t>Functional System</a:t>
            </a:r>
            <a:endParaRPr lang="en-US" sz="1850" dirty="0"/>
          </a:p>
        </p:txBody>
      </p:sp>
      <p:sp>
        <p:nvSpPr>
          <p:cNvPr id="9" name="Text 7"/>
          <p:cNvSpPr/>
          <p:nvPr/>
        </p:nvSpPr>
        <p:spPr>
          <a:xfrm>
            <a:off x="896422" y="3934182"/>
            <a:ext cx="2687836" cy="568404"/>
          </a:xfrm>
          <a:prstGeom prst="rect">
            <a:avLst/>
          </a:prstGeom>
          <a:noFill/>
          <a:ln/>
        </p:spPr>
        <p:txBody>
          <a:bodyPr wrap="square" lIns="0" tIns="0" rIns="0" bIns="0" rtlCol="0" anchor="t"/>
          <a:lstStyle/>
          <a:p>
            <a:pPr marL="0" indent="0" algn="l">
              <a:lnSpc>
                <a:spcPts val="2200"/>
              </a:lnSpc>
              <a:buNone/>
            </a:pPr>
            <a:r>
              <a:rPr lang="en-US" sz="1500" dirty="0">
                <a:solidFill>
                  <a:srgbClr val="464646"/>
                </a:solidFill>
                <a:latin typeface="Inter Medium" pitchFamily="34" charset="0"/>
                <a:ea typeface="Inter Medium" pitchFamily="34" charset="-122"/>
                <a:cs typeface="Inter Medium" pitchFamily="34" charset="-120"/>
              </a:rPr>
              <a:t>Real-time phishing detection with network traffic analysis</a:t>
            </a:r>
            <a:endParaRPr lang="en-US" sz="1500" dirty="0"/>
          </a:p>
        </p:txBody>
      </p:sp>
      <p:sp>
        <p:nvSpPr>
          <p:cNvPr id="10" name="Shape 8"/>
          <p:cNvSpPr/>
          <p:nvPr/>
        </p:nvSpPr>
        <p:spPr>
          <a:xfrm>
            <a:off x="3962400" y="2990136"/>
            <a:ext cx="3118128" cy="1727597"/>
          </a:xfrm>
          <a:prstGeom prst="roundRect">
            <a:avLst>
              <a:gd name="adj" fmla="val 6351"/>
            </a:avLst>
          </a:prstGeom>
          <a:solidFill>
            <a:srgbClr val="FFFFFF"/>
          </a:solidFill>
          <a:ln/>
        </p:spPr>
      </p:sp>
      <p:sp>
        <p:nvSpPr>
          <p:cNvPr id="11" name="Shape 9"/>
          <p:cNvSpPr/>
          <p:nvPr/>
        </p:nvSpPr>
        <p:spPr>
          <a:xfrm>
            <a:off x="3962400" y="2967276"/>
            <a:ext cx="3118128" cy="91440"/>
          </a:xfrm>
          <a:prstGeom prst="roundRect">
            <a:avLst>
              <a:gd name="adj" fmla="val 31543"/>
            </a:avLst>
          </a:prstGeom>
          <a:solidFill>
            <a:srgbClr val="1C9770"/>
          </a:solidFill>
          <a:ln/>
        </p:spPr>
      </p:sp>
      <p:sp>
        <p:nvSpPr>
          <p:cNvPr id="12" name="Shape 10"/>
          <p:cNvSpPr/>
          <p:nvPr/>
        </p:nvSpPr>
        <p:spPr>
          <a:xfrm>
            <a:off x="5232975" y="2701766"/>
            <a:ext cx="576858" cy="576858"/>
          </a:xfrm>
          <a:prstGeom prst="roundRect">
            <a:avLst>
              <a:gd name="adj" fmla="val 158514"/>
            </a:avLst>
          </a:prstGeom>
          <a:solidFill>
            <a:srgbClr val="1C9770"/>
          </a:solidFill>
          <a:ln/>
        </p:spPr>
      </p:sp>
      <p:sp>
        <p:nvSpPr>
          <p:cNvPr id="13" name="Text 11"/>
          <p:cNvSpPr/>
          <p:nvPr/>
        </p:nvSpPr>
        <p:spPr>
          <a:xfrm>
            <a:off x="5405973" y="2845951"/>
            <a:ext cx="230743" cy="288369"/>
          </a:xfrm>
          <a:prstGeom prst="rect">
            <a:avLst/>
          </a:prstGeom>
          <a:noFill/>
          <a:ln/>
        </p:spPr>
        <p:txBody>
          <a:bodyPr wrap="none" lIns="0" tIns="0" rIns="0" bIns="0" rtlCol="0" anchor="t"/>
          <a:lstStyle/>
          <a:p>
            <a:pPr marL="0" indent="0" algn="l">
              <a:lnSpc>
                <a:spcPts val="2650"/>
              </a:lnSpc>
              <a:buNone/>
            </a:pPr>
            <a:r>
              <a:rPr lang="en-US" sz="1800" dirty="0">
                <a:solidFill>
                  <a:srgbClr val="FFFFFF"/>
                </a:solidFill>
                <a:latin typeface="DM Sans Semi Bold" pitchFamily="34" charset="0"/>
                <a:ea typeface="DM Sans Semi Bold" pitchFamily="34" charset="-122"/>
                <a:cs typeface="DM Sans Semi Bold" pitchFamily="34" charset="-120"/>
              </a:rPr>
              <a:t>2</a:t>
            </a:r>
            <a:endParaRPr lang="en-US" sz="1800" dirty="0"/>
          </a:p>
        </p:txBody>
      </p:sp>
      <p:sp>
        <p:nvSpPr>
          <p:cNvPr id="14" name="Text 12"/>
          <p:cNvSpPr/>
          <p:nvPr/>
        </p:nvSpPr>
        <p:spPr>
          <a:xfrm>
            <a:off x="4177546" y="3470791"/>
            <a:ext cx="2403515" cy="300395"/>
          </a:xfrm>
          <a:prstGeom prst="rect">
            <a:avLst/>
          </a:prstGeom>
          <a:noFill/>
          <a:ln/>
        </p:spPr>
        <p:txBody>
          <a:bodyPr wrap="none" lIns="0" tIns="0" rIns="0" bIns="0" rtlCol="0" anchor="t"/>
          <a:lstStyle/>
          <a:p>
            <a:pPr marL="0" indent="0" algn="l">
              <a:lnSpc>
                <a:spcPts val="2350"/>
              </a:lnSpc>
              <a:buNone/>
            </a:pPr>
            <a:r>
              <a:rPr lang="en-US" sz="1850" dirty="0">
                <a:solidFill>
                  <a:srgbClr val="464646"/>
                </a:solidFill>
                <a:latin typeface="DM Sans Semi Bold" pitchFamily="34" charset="0"/>
                <a:ea typeface="DM Sans Semi Bold" pitchFamily="34" charset="-122"/>
                <a:cs typeface="DM Sans Semi Bold" pitchFamily="34" charset="-120"/>
              </a:rPr>
              <a:t>Improved Accuracy</a:t>
            </a:r>
            <a:endParaRPr lang="en-US" sz="1850" dirty="0"/>
          </a:p>
        </p:txBody>
      </p:sp>
      <p:sp>
        <p:nvSpPr>
          <p:cNvPr id="15" name="Text 13"/>
          <p:cNvSpPr/>
          <p:nvPr/>
        </p:nvSpPr>
        <p:spPr>
          <a:xfrm>
            <a:off x="4177546" y="3934182"/>
            <a:ext cx="2687836" cy="568404"/>
          </a:xfrm>
          <a:prstGeom prst="rect">
            <a:avLst/>
          </a:prstGeom>
          <a:noFill/>
          <a:ln/>
        </p:spPr>
        <p:txBody>
          <a:bodyPr wrap="square" lIns="0" tIns="0" rIns="0" bIns="0" rtlCol="0" anchor="t"/>
          <a:lstStyle/>
          <a:p>
            <a:pPr marL="0" indent="0" algn="l">
              <a:lnSpc>
                <a:spcPts val="2200"/>
              </a:lnSpc>
              <a:buNone/>
            </a:pPr>
            <a:r>
              <a:rPr lang="en-US" sz="1500" dirty="0">
                <a:solidFill>
                  <a:srgbClr val="464646"/>
                </a:solidFill>
                <a:latin typeface="Inter Medium" pitchFamily="34" charset="0"/>
                <a:ea typeface="Inter Medium" pitchFamily="34" charset="-122"/>
                <a:cs typeface="Inter Medium" pitchFamily="34" charset="-120"/>
              </a:rPr>
              <a:t>ML-enhanced detection reducing false negatives</a:t>
            </a:r>
            <a:endParaRPr lang="en-US" sz="1500" dirty="0"/>
          </a:p>
        </p:txBody>
      </p:sp>
      <p:sp>
        <p:nvSpPr>
          <p:cNvPr id="16" name="Shape 14"/>
          <p:cNvSpPr/>
          <p:nvPr/>
        </p:nvSpPr>
        <p:spPr>
          <a:xfrm>
            <a:off x="681276" y="4941172"/>
            <a:ext cx="3118128" cy="1727597"/>
          </a:xfrm>
          <a:prstGeom prst="roundRect">
            <a:avLst>
              <a:gd name="adj" fmla="val 6351"/>
            </a:avLst>
          </a:prstGeom>
          <a:solidFill>
            <a:srgbClr val="FFFFFF"/>
          </a:solidFill>
          <a:ln/>
        </p:spPr>
      </p:sp>
      <p:sp>
        <p:nvSpPr>
          <p:cNvPr id="17" name="Shape 15"/>
          <p:cNvSpPr/>
          <p:nvPr/>
        </p:nvSpPr>
        <p:spPr>
          <a:xfrm>
            <a:off x="681276" y="4918312"/>
            <a:ext cx="3118128" cy="91440"/>
          </a:xfrm>
          <a:prstGeom prst="roundRect">
            <a:avLst>
              <a:gd name="adj" fmla="val 31543"/>
            </a:avLst>
          </a:prstGeom>
          <a:solidFill>
            <a:srgbClr val="1C9770"/>
          </a:solidFill>
          <a:ln/>
        </p:spPr>
      </p:sp>
      <p:sp>
        <p:nvSpPr>
          <p:cNvPr id="18" name="Shape 16"/>
          <p:cNvSpPr/>
          <p:nvPr/>
        </p:nvSpPr>
        <p:spPr>
          <a:xfrm>
            <a:off x="1951851" y="4652803"/>
            <a:ext cx="576858" cy="576858"/>
          </a:xfrm>
          <a:prstGeom prst="roundRect">
            <a:avLst>
              <a:gd name="adj" fmla="val 158514"/>
            </a:avLst>
          </a:prstGeom>
          <a:solidFill>
            <a:srgbClr val="1C9770"/>
          </a:solidFill>
          <a:ln/>
        </p:spPr>
      </p:sp>
      <p:sp>
        <p:nvSpPr>
          <p:cNvPr id="19" name="Text 17"/>
          <p:cNvSpPr/>
          <p:nvPr/>
        </p:nvSpPr>
        <p:spPr>
          <a:xfrm>
            <a:off x="2124849" y="4796988"/>
            <a:ext cx="230743" cy="288369"/>
          </a:xfrm>
          <a:prstGeom prst="rect">
            <a:avLst/>
          </a:prstGeom>
          <a:noFill/>
          <a:ln/>
        </p:spPr>
        <p:txBody>
          <a:bodyPr wrap="none" lIns="0" tIns="0" rIns="0" bIns="0" rtlCol="0" anchor="t"/>
          <a:lstStyle/>
          <a:p>
            <a:pPr marL="0" indent="0" algn="l">
              <a:lnSpc>
                <a:spcPts val="2650"/>
              </a:lnSpc>
              <a:buNone/>
            </a:pPr>
            <a:r>
              <a:rPr lang="en-US" sz="1800" dirty="0">
                <a:solidFill>
                  <a:srgbClr val="FFFFFF"/>
                </a:solidFill>
                <a:latin typeface="DM Sans Semi Bold" pitchFamily="34" charset="0"/>
                <a:ea typeface="DM Sans Semi Bold" pitchFamily="34" charset="-122"/>
                <a:cs typeface="DM Sans Semi Bold" pitchFamily="34" charset="-120"/>
              </a:rPr>
              <a:t>3</a:t>
            </a:r>
            <a:endParaRPr lang="en-US" sz="1800" dirty="0"/>
          </a:p>
        </p:txBody>
      </p:sp>
      <p:sp>
        <p:nvSpPr>
          <p:cNvPr id="20" name="Text 18"/>
          <p:cNvSpPr/>
          <p:nvPr/>
        </p:nvSpPr>
        <p:spPr>
          <a:xfrm>
            <a:off x="896422" y="5421828"/>
            <a:ext cx="2564487" cy="300395"/>
          </a:xfrm>
          <a:prstGeom prst="rect">
            <a:avLst/>
          </a:prstGeom>
          <a:noFill/>
          <a:ln/>
        </p:spPr>
        <p:txBody>
          <a:bodyPr wrap="none" lIns="0" tIns="0" rIns="0" bIns="0" rtlCol="0" anchor="t"/>
          <a:lstStyle/>
          <a:p>
            <a:pPr marL="0" indent="0" algn="l">
              <a:lnSpc>
                <a:spcPts val="2350"/>
              </a:lnSpc>
              <a:buNone/>
            </a:pPr>
            <a:r>
              <a:rPr lang="en-US" sz="1850" dirty="0">
                <a:solidFill>
                  <a:srgbClr val="464646"/>
                </a:solidFill>
                <a:latin typeface="DM Sans Semi Bold" pitchFamily="34" charset="0"/>
                <a:ea typeface="DM Sans Semi Bold" pitchFamily="34" charset="-122"/>
                <a:cs typeface="DM Sans Semi Bold" pitchFamily="34" charset="-120"/>
              </a:rPr>
              <a:t>Reduced Dependency</a:t>
            </a:r>
            <a:endParaRPr lang="en-US" sz="1850" dirty="0"/>
          </a:p>
        </p:txBody>
      </p:sp>
      <p:sp>
        <p:nvSpPr>
          <p:cNvPr id="21" name="Text 19"/>
          <p:cNvSpPr/>
          <p:nvPr/>
        </p:nvSpPr>
        <p:spPr>
          <a:xfrm>
            <a:off x="896422" y="5885219"/>
            <a:ext cx="2687836" cy="568404"/>
          </a:xfrm>
          <a:prstGeom prst="rect">
            <a:avLst/>
          </a:prstGeom>
          <a:noFill/>
          <a:ln/>
        </p:spPr>
        <p:txBody>
          <a:bodyPr wrap="square" lIns="0" tIns="0" rIns="0" bIns="0" rtlCol="0" anchor="t"/>
          <a:lstStyle/>
          <a:p>
            <a:pPr marL="0" indent="0" algn="l">
              <a:lnSpc>
                <a:spcPts val="2200"/>
              </a:lnSpc>
              <a:buNone/>
            </a:pPr>
            <a:r>
              <a:rPr lang="en-US" sz="1500" dirty="0">
                <a:solidFill>
                  <a:srgbClr val="464646"/>
                </a:solidFill>
                <a:latin typeface="Inter Medium" pitchFamily="34" charset="0"/>
                <a:ea typeface="Inter Medium" pitchFamily="34" charset="-122"/>
                <a:cs typeface="Inter Medium" pitchFamily="34" charset="-120"/>
              </a:rPr>
              <a:t>Less reliance on static blacklists</a:t>
            </a:r>
            <a:endParaRPr lang="en-US" sz="1500" dirty="0"/>
          </a:p>
        </p:txBody>
      </p:sp>
      <p:sp>
        <p:nvSpPr>
          <p:cNvPr id="22" name="Shape 20"/>
          <p:cNvSpPr/>
          <p:nvPr/>
        </p:nvSpPr>
        <p:spPr>
          <a:xfrm>
            <a:off x="3962400" y="4941172"/>
            <a:ext cx="3118128" cy="1727597"/>
          </a:xfrm>
          <a:prstGeom prst="roundRect">
            <a:avLst>
              <a:gd name="adj" fmla="val 6351"/>
            </a:avLst>
          </a:prstGeom>
          <a:solidFill>
            <a:srgbClr val="FFFFFF"/>
          </a:solidFill>
          <a:ln/>
        </p:spPr>
      </p:sp>
      <p:sp>
        <p:nvSpPr>
          <p:cNvPr id="23" name="Shape 21"/>
          <p:cNvSpPr/>
          <p:nvPr/>
        </p:nvSpPr>
        <p:spPr>
          <a:xfrm>
            <a:off x="3962400" y="4918312"/>
            <a:ext cx="3118128" cy="91440"/>
          </a:xfrm>
          <a:prstGeom prst="roundRect">
            <a:avLst>
              <a:gd name="adj" fmla="val 31543"/>
            </a:avLst>
          </a:prstGeom>
          <a:solidFill>
            <a:srgbClr val="1C9770"/>
          </a:solidFill>
          <a:ln/>
        </p:spPr>
      </p:sp>
      <p:sp>
        <p:nvSpPr>
          <p:cNvPr id="24" name="Shape 22"/>
          <p:cNvSpPr/>
          <p:nvPr/>
        </p:nvSpPr>
        <p:spPr>
          <a:xfrm>
            <a:off x="5232975" y="4652803"/>
            <a:ext cx="576858" cy="576858"/>
          </a:xfrm>
          <a:prstGeom prst="roundRect">
            <a:avLst>
              <a:gd name="adj" fmla="val 158514"/>
            </a:avLst>
          </a:prstGeom>
          <a:solidFill>
            <a:srgbClr val="1C9770"/>
          </a:solidFill>
          <a:ln/>
        </p:spPr>
      </p:sp>
      <p:sp>
        <p:nvSpPr>
          <p:cNvPr id="25" name="Text 23"/>
          <p:cNvSpPr/>
          <p:nvPr/>
        </p:nvSpPr>
        <p:spPr>
          <a:xfrm>
            <a:off x="5405973" y="4796988"/>
            <a:ext cx="230743" cy="288369"/>
          </a:xfrm>
          <a:prstGeom prst="rect">
            <a:avLst/>
          </a:prstGeom>
          <a:noFill/>
          <a:ln/>
        </p:spPr>
        <p:txBody>
          <a:bodyPr wrap="none" lIns="0" tIns="0" rIns="0" bIns="0" rtlCol="0" anchor="t"/>
          <a:lstStyle/>
          <a:p>
            <a:pPr marL="0" indent="0" algn="l">
              <a:lnSpc>
                <a:spcPts val="2650"/>
              </a:lnSpc>
              <a:buNone/>
            </a:pPr>
            <a:r>
              <a:rPr lang="en-US" sz="1800" dirty="0">
                <a:solidFill>
                  <a:srgbClr val="FFFFFF"/>
                </a:solidFill>
                <a:latin typeface="DM Sans Semi Bold" pitchFamily="34" charset="0"/>
                <a:ea typeface="DM Sans Semi Bold" pitchFamily="34" charset="-122"/>
                <a:cs typeface="DM Sans Semi Bold" pitchFamily="34" charset="-120"/>
              </a:rPr>
              <a:t>4</a:t>
            </a:r>
            <a:endParaRPr lang="en-US" sz="1800" dirty="0"/>
          </a:p>
        </p:txBody>
      </p:sp>
      <p:sp>
        <p:nvSpPr>
          <p:cNvPr id="26" name="Text 24"/>
          <p:cNvSpPr/>
          <p:nvPr/>
        </p:nvSpPr>
        <p:spPr>
          <a:xfrm>
            <a:off x="4177546" y="5421828"/>
            <a:ext cx="2403515" cy="300395"/>
          </a:xfrm>
          <a:prstGeom prst="rect">
            <a:avLst/>
          </a:prstGeom>
          <a:noFill/>
          <a:ln/>
        </p:spPr>
        <p:txBody>
          <a:bodyPr wrap="none" lIns="0" tIns="0" rIns="0" bIns="0" rtlCol="0" anchor="t"/>
          <a:lstStyle/>
          <a:p>
            <a:pPr marL="0" indent="0" algn="l">
              <a:lnSpc>
                <a:spcPts val="2350"/>
              </a:lnSpc>
              <a:buNone/>
            </a:pPr>
            <a:r>
              <a:rPr lang="en-US" sz="1850" dirty="0">
                <a:solidFill>
                  <a:srgbClr val="464646"/>
                </a:solidFill>
                <a:latin typeface="DM Sans Semi Bold" pitchFamily="34" charset="0"/>
                <a:ea typeface="DM Sans Semi Bold" pitchFamily="34" charset="-122"/>
                <a:cs typeface="DM Sans Semi Bold" pitchFamily="34" charset="-120"/>
              </a:rPr>
              <a:t>Educational Value</a:t>
            </a:r>
            <a:endParaRPr lang="en-US" sz="1850" dirty="0"/>
          </a:p>
        </p:txBody>
      </p:sp>
      <p:sp>
        <p:nvSpPr>
          <p:cNvPr id="27" name="Text 25"/>
          <p:cNvSpPr/>
          <p:nvPr/>
        </p:nvSpPr>
        <p:spPr>
          <a:xfrm>
            <a:off x="4177546" y="5885219"/>
            <a:ext cx="2687836" cy="568404"/>
          </a:xfrm>
          <a:prstGeom prst="rect">
            <a:avLst/>
          </a:prstGeom>
          <a:noFill/>
          <a:ln/>
        </p:spPr>
        <p:txBody>
          <a:bodyPr wrap="square" lIns="0" tIns="0" rIns="0" bIns="0" rtlCol="0" anchor="t"/>
          <a:lstStyle/>
          <a:p>
            <a:pPr marL="0" indent="0" algn="l">
              <a:lnSpc>
                <a:spcPts val="2200"/>
              </a:lnSpc>
              <a:buNone/>
            </a:pPr>
            <a:r>
              <a:rPr lang="en-US" sz="1500" dirty="0">
                <a:solidFill>
                  <a:srgbClr val="464646"/>
                </a:solidFill>
                <a:latin typeface="Inter Medium" pitchFamily="34" charset="0"/>
                <a:ea typeface="Inter Medium" pitchFamily="34" charset="-122"/>
                <a:cs typeface="Inter Medium" pitchFamily="34" charset="-120"/>
              </a:rPr>
              <a:t>Practical cybersecurity learning experience</a:t>
            </a:r>
            <a:endParaRPr lang="en-US" sz="1500" dirty="0"/>
          </a:p>
        </p:txBody>
      </p:sp>
      <p:sp>
        <p:nvSpPr>
          <p:cNvPr id="28" name="Text 26"/>
          <p:cNvSpPr/>
          <p:nvPr/>
        </p:nvSpPr>
        <p:spPr>
          <a:xfrm>
            <a:off x="7557254" y="2157889"/>
            <a:ext cx="3062526" cy="360521"/>
          </a:xfrm>
          <a:prstGeom prst="rect">
            <a:avLst/>
          </a:prstGeom>
          <a:noFill/>
          <a:ln/>
        </p:spPr>
        <p:txBody>
          <a:bodyPr wrap="none" lIns="0" tIns="0" rIns="0" bIns="0" rtlCol="0" anchor="t"/>
          <a:lstStyle/>
          <a:p>
            <a:pPr marL="0" indent="0" algn="l">
              <a:lnSpc>
                <a:spcPts val="2800"/>
              </a:lnSpc>
              <a:buNone/>
            </a:pPr>
            <a:r>
              <a:rPr lang="en-US" sz="2250" dirty="0">
                <a:solidFill>
                  <a:srgbClr val="030303"/>
                </a:solidFill>
                <a:latin typeface="DM Sans Semi Bold" pitchFamily="34" charset="0"/>
                <a:ea typeface="DM Sans Semi Bold" pitchFamily="34" charset="-122"/>
                <a:cs typeface="DM Sans Semi Bold" pitchFamily="34" charset="-120"/>
              </a:rPr>
              <a:t>Future Enhancements</a:t>
            </a:r>
            <a:endParaRPr lang="en-US" sz="2250" dirty="0"/>
          </a:p>
        </p:txBody>
      </p:sp>
      <p:sp>
        <p:nvSpPr>
          <p:cNvPr id="29" name="Text 27"/>
          <p:cNvSpPr/>
          <p:nvPr/>
        </p:nvSpPr>
        <p:spPr>
          <a:xfrm>
            <a:off x="7557254" y="2681407"/>
            <a:ext cx="6399252" cy="1705411"/>
          </a:xfrm>
          <a:prstGeom prst="rect">
            <a:avLst/>
          </a:prstGeom>
          <a:noFill/>
          <a:ln/>
        </p:spPr>
        <p:txBody>
          <a:bodyPr wrap="square" lIns="0" tIns="0" rIns="0" bIns="0" rtlCol="0" anchor="t"/>
          <a:lstStyle/>
          <a:p>
            <a:pPr marL="342900" indent="-342900" algn="l">
              <a:lnSpc>
                <a:spcPts val="2200"/>
              </a:lnSpc>
              <a:buSzPct val="100000"/>
              <a:buChar char="•"/>
            </a:pPr>
            <a:r>
              <a:rPr lang="en-US" sz="1500" b="1" dirty="0">
                <a:solidFill>
                  <a:srgbClr val="464646"/>
                </a:solidFill>
                <a:latin typeface="Inter Medium" pitchFamily="34" charset="0"/>
                <a:ea typeface="Inter Medium" pitchFamily="34" charset="-122"/>
                <a:cs typeface="Inter Medium" pitchFamily="34" charset="-120"/>
              </a:rPr>
              <a:t>Deep Learning:</a:t>
            </a:r>
            <a:r>
              <a:rPr lang="en-US" sz="1500" dirty="0">
                <a:solidFill>
                  <a:srgbClr val="464646"/>
                </a:solidFill>
                <a:latin typeface="Inter Medium" pitchFamily="34" charset="0"/>
                <a:ea typeface="Inter Medium" pitchFamily="34" charset="-122"/>
                <a:cs typeface="Inter Medium" pitchFamily="34" charset="-120"/>
              </a:rPr>
              <a:t> Implement neural networks for enhanced pattern recognition</a:t>
            </a:r>
            <a:endParaRPr lang="en-US" sz="1500" dirty="0"/>
          </a:p>
          <a:p>
            <a:pPr marL="342900" indent="-342900" algn="l">
              <a:lnSpc>
                <a:spcPts val="2200"/>
              </a:lnSpc>
              <a:buSzPct val="100000"/>
              <a:buChar char="•"/>
            </a:pPr>
            <a:r>
              <a:rPr lang="en-US" sz="1500" b="1" dirty="0">
                <a:solidFill>
                  <a:srgbClr val="464646"/>
                </a:solidFill>
                <a:latin typeface="Inter Medium" pitchFamily="34" charset="0"/>
                <a:ea typeface="Inter Medium" pitchFamily="34" charset="-122"/>
                <a:cs typeface="Inter Medium" pitchFamily="34" charset="-120"/>
              </a:rPr>
              <a:t>HTTPS Analysis:</a:t>
            </a:r>
            <a:r>
              <a:rPr lang="en-US" sz="1500" dirty="0">
                <a:solidFill>
                  <a:srgbClr val="464646"/>
                </a:solidFill>
                <a:latin typeface="Inter Medium" pitchFamily="34" charset="0"/>
                <a:ea typeface="Inter Medium" pitchFamily="34" charset="-122"/>
                <a:cs typeface="Inter Medium" pitchFamily="34" charset="-120"/>
              </a:rPr>
              <a:t> Deep packet inspection for encrypted traffic</a:t>
            </a:r>
            <a:endParaRPr lang="en-US" sz="1500" dirty="0"/>
          </a:p>
          <a:p>
            <a:pPr marL="342900" indent="-342900" algn="l">
              <a:lnSpc>
                <a:spcPts val="2200"/>
              </a:lnSpc>
              <a:buSzPct val="100000"/>
              <a:buChar char="•"/>
            </a:pPr>
            <a:r>
              <a:rPr lang="en-US" sz="1500" b="1" dirty="0">
                <a:solidFill>
                  <a:srgbClr val="464646"/>
                </a:solidFill>
                <a:latin typeface="Inter Medium" pitchFamily="34" charset="0"/>
                <a:ea typeface="Inter Medium" pitchFamily="34" charset="-122"/>
                <a:cs typeface="Inter Medium" pitchFamily="34" charset="-120"/>
              </a:rPr>
              <a:t>Web Dashboard:</a:t>
            </a:r>
            <a:r>
              <a:rPr lang="en-US" sz="1500" dirty="0">
                <a:solidFill>
                  <a:srgbClr val="464646"/>
                </a:solidFill>
                <a:latin typeface="Inter Medium" pitchFamily="34" charset="0"/>
                <a:ea typeface="Inter Medium" pitchFamily="34" charset="-122"/>
                <a:cs typeface="Inter Medium" pitchFamily="34" charset="-120"/>
              </a:rPr>
              <a:t> Interactive monitoring interface with analytics</a:t>
            </a:r>
            <a:endParaRPr lang="en-US" sz="1500" dirty="0"/>
          </a:p>
          <a:p>
            <a:pPr marL="342900" indent="-342900" algn="l">
              <a:lnSpc>
                <a:spcPts val="2200"/>
              </a:lnSpc>
              <a:buSzPct val="100000"/>
              <a:buChar char="•"/>
            </a:pPr>
            <a:r>
              <a:rPr lang="en-US" sz="1500" b="1" dirty="0">
                <a:solidFill>
                  <a:srgbClr val="464646"/>
                </a:solidFill>
                <a:latin typeface="Inter Medium" pitchFamily="34" charset="0"/>
                <a:ea typeface="Inter Medium" pitchFamily="34" charset="-122"/>
                <a:cs typeface="Inter Medium" pitchFamily="34" charset="-120"/>
              </a:rPr>
              <a:t>Browser Extension:</a:t>
            </a:r>
            <a:r>
              <a:rPr lang="en-US" sz="1500" dirty="0">
                <a:solidFill>
                  <a:srgbClr val="464646"/>
                </a:solidFill>
                <a:latin typeface="Inter Medium" pitchFamily="34" charset="0"/>
                <a:ea typeface="Inter Medium" pitchFamily="34" charset="-122"/>
                <a:cs typeface="Inter Medium" pitchFamily="34" charset="-120"/>
              </a:rPr>
              <a:t> Client-side protection layer</a:t>
            </a:r>
            <a:endParaRPr lang="en-US" sz="1500" dirty="0"/>
          </a:p>
          <a:p>
            <a:pPr marL="342900" indent="-342900" algn="l">
              <a:lnSpc>
                <a:spcPts val="2200"/>
              </a:lnSpc>
              <a:buSzPct val="100000"/>
              <a:buChar char="•"/>
            </a:pPr>
            <a:r>
              <a:rPr lang="en-US" sz="1500" b="1" dirty="0">
                <a:solidFill>
                  <a:srgbClr val="464646"/>
                </a:solidFill>
                <a:latin typeface="Inter Medium" pitchFamily="34" charset="0"/>
                <a:ea typeface="Inter Medium" pitchFamily="34" charset="-122"/>
                <a:cs typeface="Inter Medium" pitchFamily="34" charset="-120"/>
              </a:rPr>
              <a:t>Expanded Dataset:</a:t>
            </a:r>
            <a:r>
              <a:rPr lang="en-US" sz="1500" dirty="0">
                <a:solidFill>
                  <a:srgbClr val="464646"/>
                </a:solidFill>
                <a:latin typeface="Inter Medium" pitchFamily="34" charset="0"/>
                <a:ea typeface="Inter Medium" pitchFamily="34" charset="-122"/>
                <a:cs typeface="Inter Medium" pitchFamily="34" charset="-120"/>
              </a:rPr>
              <a:t> Larger training corpus for improved accuracy</a:t>
            </a:r>
            <a:endParaRPr lang="en-US" sz="1500" dirty="0"/>
          </a:p>
        </p:txBody>
      </p:sp>
      <p:sp>
        <p:nvSpPr>
          <p:cNvPr id="30" name="Text 28"/>
          <p:cNvSpPr/>
          <p:nvPr/>
        </p:nvSpPr>
        <p:spPr>
          <a:xfrm>
            <a:off x="7557254" y="4533502"/>
            <a:ext cx="6399252" cy="852607"/>
          </a:xfrm>
          <a:prstGeom prst="rect">
            <a:avLst/>
          </a:prstGeom>
          <a:noFill/>
          <a:ln/>
        </p:spPr>
        <p:txBody>
          <a:bodyPr wrap="square" lIns="0" tIns="0" rIns="0" bIns="0" rtlCol="0" anchor="t"/>
          <a:lstStyle/>
          <a:p>
            <a:pPr marL="0" indent="0" algn="l">
              <a:lnSpc>
                <a:spcPts val="2200"/>
              </a:lnSpc>
              <a:buNone/>
            </a:pPr>
            <a:r>
              <a:rPr lang="en-US" sz="1500" i="1" dirty="0">
                <a:solidFill>
                  <a:srgbClr val="464646"/>
                </a:solidFill>
                <a:latin typeface="Inter Medium" pitchFamily="34" charset="0"/>
                <a:ea typeface="Inter Medium" pitchFamily="34" charset="-122"/>
                <a:cs typeface="Inter Medium" pitchFamily="34" charset="-120"/>
              </a:rPr>
              <a:t>This project establishes a robust foundation for advanced cybersecurity solutions, combining rule-based logic with machine learning to protect users from evolving phishing threats.</a:t>
            </a:r>
            <a:endParaRPr lang="en-US" sz="1500" dirty="0"/>
          </a:p>
        </p:txBody>
      </p:sp>
      <p:sp>
        <p:nvSpPr>
          <p:cNvPr id="31" name="Rectangle 30">
            <a:extLst>
              <a:ext uri="{FF2B5EF4-FFF2-40B4-BE49-F238E27FC236}">
                <a16:creationId xmlns:a16="http://schemas.microsoft.com/office/drawing/2014/main" id="{7E67C327-1A10-0603-024A-5AF83736B5DB}"/>
              </a:ext>
            </a:extLst>
          </p:cNvPr>
          <p:cNvSpPr/>
          <p:nvPr/>
        </p:nvSpPr>
        <p:spPr>
          <a:xfrm>
            <a:off x="12820650" y="7724775"/>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5C3337-ACA8-811E-965A-00718D2BD2E4}"/>
              </a:ext>
            </a:extLst>
          </p:cNvPr>
          <p:cNvSpPr/>
          <p:nvPr/>
        </p:nvSpPr>
        <p:spPr>
          <a:xfrm>
            <a:off x="12820650" y="7724775"/>
            <a:ext cx="1724025"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5AAD21F-134D-FEC7-1D46-E871E84BA38D}"/>
              </a:ext>
            </a:extLst>
          </p:cNvPr>
          <p:cNvSpPr txBox="1"/>
          <p:nvPr/>
        </p:nvSpPr>
        <p:spPr>
          <a:xfrm>
            <a:off x="4786313" y="3655379"/>
            <a:ext cx="5057774" cy="918841"/>
          </a:xfrm>
          <a:prstGeom prst="rect">
            <a:avLst/>
          </a:prstGeom>
          <a:noFill/>
        </p:spPr>
        <p:txBody>
          <a:bodyPr wrap="square">
            <a:spAutoFit/>
          </a:bodyPr>
          <a:lstStyle/>
          <a:p>
            <a:pPr marL="0" indent="0" algn="l">
              <a:lnSpc>
                <a:spcPts val="5550"/>
              </a:lnSpc>
              <a:buNone/>
            </a:pPr>
            <a:r>
              <a:rPr lang="en-US" sz="8000" dirty="0">
                <a:solidFill>
                  <a:srgbClr val="030303"/>
                </a:solidFill>
                <a:latin typeface="DM Sans Semi Bold" pitchFamily="34" charset="0"/>
              </a:rPr>
              <a:t>Thank You</a:t>
            </a:r>
            <a:endParaRPr lang="en-US" sz="8000" dirty="0"/>
          </a:p>
        </p:txBody>
      </p:sp>
    </p:spTree>
    <p:extLst>
      <p:ext uri="{BB962C8B-B14F-4D97-AF65-F5344CB8AC3E}">
        <p14:creationId xmlns:p14="http://schemas.microsoft.com/office/powerpoint/2010/main" val="1643094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741</Words>
  <Application>Microsoft Office PowerPoint</Application>
  <PresentationFormat>Custom</PresentationFormat>
  <Paragraphs>121</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Inter Medium</vt:lpstr>
      <vt:lpstr>Arial</vt:lpstr>
      <vt:lpstr>DM Sans Light</vt:lpstr>
      <vt:lpstr>DM Sans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Ankit Saraswat</dc:creator>
  <cp:lastModifiedBy>Ankit Saraswat</cp:lastModifiedBy>
  <cp:revision>2</cp:revision>
  <dcterms:created xsi:type="dcterms:W3CDTF">2026-02-08T06:31:23Z</dcterms:created>
  <dcterms:modified xsi:type="dcterms:W3CDTF">2026-02-08T06:36:48Z</dcterms:modified>
</cp:coreProperties>
</file>